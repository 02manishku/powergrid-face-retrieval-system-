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Unbounded"/>
      <p:regular r:id="rId18"/>
    </p:embeddedFont>
    <p:embeddedFont>
      <p:font typeface="Unbounded"/>
      <p:regular r:id="rId19"/>
    </p:embeddedFont>
    <p:embeddedFont>
      <p:font typeface="Open Sans"/>
      <p:regular r:id="rId20"/>
    </p:embeddedFont>
    <p:embeddedFont>
      <p:font typeface="Open Sans"/>
      <p:regular r:id="rId21"/>
    </p:embeddedFont>
    <p:embeddedFont>
      <p:font typeface="Open Sans"/>
      <p:regular r:id="rId22"/>
    </p:embeddedFont>
    <p:embeddedFont>
      <p:font typeface="Open Sans"/>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9.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10.png"/><Relationship Id="rId11" Type="http://schemas.openxmlformats.org/officeDocument/2006/relationships/image" Target="../media/image-9-11.svg"/><Relationship Id="rId12" Type="http://schemas.openxmlformats.org/officeDocument/2006/relationships/image" Target="../media/image-9-12.png"/><Relationship Id="rId13" Type="http://schemas.openxmlformats.org/officeDocument/2006/relationships/image" Target="../media/image-9-13.svg"/><Relationship Id="rId14" Type="http://schemas.openxmlformats.org/officeDocument/2006/relationships/slideLayout" Target="../slideLayouts/slideLayout10.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39027"/>
            <a:ext cx="7161490"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PowerGrid TASVEER</a:t>
            </a:r>
            <a:endParaRPr lang="en-US" sz="4450" dirty="0"/>
          </a:p>
        </p:txBody>
      </p:sp>
      <p:sp>
        <p:nvSpPr>
          <p:cNvPr id="4" name="Text 1"/>
          <p:cNvSpPr/>
          <p:nvPr/>
        </p:nvSpPr>
        <p:spPr>
          <a:xfrm>
            <a:off x="6280190" y="2538532"/>
            <a:ext cx="7556421" cy="70866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TASVEER: PowerGrid's AI Portal for Smart Image Management</a:t>
            </a:r>
            <a:endParaRPr lang="en-US" sz="2200" dirty="0"/>
          </a:p>
        </p:txBody>
      </p:sp>
      <p:sp>
        <p:nvSpPr>
          <p:cNvPr id="5" name="Text 2"/>
          <p:cNvSpPr/>
          <p:nvPr/>
        </p:nvSpPr>
        <p:spPr>
          <a:xfrm>
            <a:off x="6280190" y="3587353"/>
            <a:ext cx="7556421" cy="2903220"/>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Power Grid Corporation of India Ltd. (PowerGrid) is a Maharatna PSU and one of the world's largest power transmission utilities. Faced with a massive volume of digital assets, particularly event photographs that are challenging to manage and access, PowerGrid developed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TASVEER</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 This AI-powered face recognition portal transforms the organization's approach to managing and retrieving employee photos from corporate events, offering a smart photo management solution through advanced facial recognition technology.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96278"/>
            <a:ext cx="13042821" cy="992267"/>
          </a:xfrm>
          <a:prstGeom prst="rect">
            <a:avLst/>
          </a:prstGeom>
          <a:noFill/>
          <a:ln/>
        </p:spPr>
        <p:txBody>
          <a:bodyPr wrap="square" lIns="0" tIns="0" rIns="0" bIns="0" rtlCol="0" anchor="t"/>
          <a:lstStyle/>
          <a:p>
            <a:pPr algn="l" indent="0" marL="0">
              <a:lnSpc>
                <a:spcPts val="3900"/>
              </a:lnSpc>
              <a:buNone/>
            </a:pPr>
            <a:r>
              <a:rPr lang="en-US" sz="3100" b="1" dirty="0">
                <a:solidFill>
                  <a:srgbClr val="333F70"/>
                </a:solidFill>
                <a:latin typeface="Unbounded Bold" pitchFamily="34" charset="0"/>
                <a:ea typeface="Unbounded Bold" pitchFamily="34" charset="-122"/>
                <a:cs typeface="Unbounded Bold" pitchFamily="34" charset="-120"/>
              </a:rPr>
              <a:t>Critical Challenge: Massive Photo Archive Inefficiency</a:t>
            </a:r>
            <a:endParaRPr lang="en-US" sz="3100" dirty="0"/>
          </a:p>
        </p:txBody>
      </p:sp>
      <p:sp>
        <p:nvSpPr>
          <p:cNvPr id="3" name="Shape 1"/>
          <p:cNvSpPr/>
          <p:nvPr/>
        </p:nvSpPr>
        <p:spPr>
          <a:xfrm>
            <a:off x="793790" y="2244209"/>
            <a:ext cx="4241721" cy="3208377"/>
          </a:xfrm>
          <a:prstGeom prst="roundRect">
            <a:avLst>
              <a:gd name="adj" fmla="val 3420"/>
            </a:avLst>
          </a:prstGeom>
          <a:solidFill>
            <a:srgbClr val="FFFFFF"/>
          </a:solidFill>
          <a:ln/>
        </p:spPr>
      </p:sp>
      <p:sp>
        <p:nvSpPr>
          <p:cNvPr id="4" name="Shape 2"/>
          <p:cNvSpPr/>
          <p:nvPr/>
        </p:nvSpPr>
        <p:spPr>
          <a:xfrm>
            <a:off x="793790" y="2221349"/>
            <a:ext cx="4241721" cy="91440"/>
          </a:xfrm>
          <a:prstGeom prst="roundRect">
            <a:avLst>
              <a:gd name="adj" fmla="val 72930"/>
            </a:avLst>
          </a:prstGeom>
          <a:solidFill>
            <a:srgbClr val="26A688"/>
          </a:solidFill>
          <a:ln/>
        </p:spPr>
      </p:sp>
      <p:sp>
        <p:nvSpPr>
          <p:cNvPr id="5" name="Shape 3"/>
          <p:cNvSpPr/>
          <p:nvPr/>
        </p:nvSpPr>
        <p:spPr>
          <a:xfrm>
            <a:off x="2676525" y="2006084"/>
            <a:ext cx="476250" cy="476250"/>
          </a:xfrm>
          <a:prstGeom prst="roundRect">
            <a:avLst>
              <a:gd name="adj" fmla="val 192000"/>
            </a:avLst>
          </a:prstGeom>
          <a:solidFill>
            <a:srgbClr val="26A688"/>
          </a:solidFill>
          <a:ln/>
        </p:spPr>
      </p:sp>
      <p:sp>
        <p:nvSpPr>
          <p:cNvPr id="6" name="Text 4"/>
          <p:cNvSpPr/>
          <p:nvPr/>
        </p:nvSpPr>
        <p:spPr>
          <a:xfrm>
            <a:off x="2819400" y="2125147"/>
            <a:ext cx="190500" cy="238125"/>
          </a:xfrm>
          <a:prstGeom prst="rect">
            <a:avLst/>
          </a:prstGeom>
          <a:noFill/>
          <a:ln/>
        </p:spPr>
        <p:txBody>
          <a:bodyPr wrap="none" lIns="0" tIns="0" rIns="0" bIns="0" rtlCol="0" anchor="t"/>
          <a:lstStyle/>
          <a:p>
            <a:pPr algn="ctr" indent="0" marL="0">
              <a:lnSpc>
                <a:spcPts val="2400"/>
              </a:lnSpc>
              <a:buNone/>
            </a:pPr>
            <a:r>
              <a:rPr lang="en-US" sz="1500" b="1" dirty="0">
                <a:solidFill>
                  <a:srgbClr val="FFFFFF"/>
                </a:solidFill>
                <a:latin typeface="Unbounded Bold" pitchFamily="34" charset="0"/>
                <a:ea typeface="Unbounded Bold" pitchFamily="34" charset="-122"/>
                <a:cs typeface="Unbounded Bold" pitchFamily="34" charset="-120"/>
              </a:rPr>
              <a:t>1</a:t>
            </a:r>
            <a:endParaRPr lang="en-US" sz="1500" dirty="0"/>
          </a:p>
        </p:txBody>
      </p:sp>
      <p:sp>
        <p:nvSpPr>
          <p:cNvPr id="7" name="Text 5"/>
          <p:cNvSpPr/>
          <p:nvPr/>
        </p:nvSpPr>
        <p:spPr>
          <a:xfrm>
            <a:off x="1098352" y="2641044"/>
            <a:ext cx="3632597" cy="248007"/>
          </a:xfrm>
          <a:prstGeom prst="rect">
            <a:avLst/>
          </a:prstGeom>
          <a:noFill/>
          <a:ln/>
        </p:spPr>
        <p:txBody>
          <a:bodyPr wrap="none" lIns="0" tIns="0" rIns="0" bIns="0" rtlCol="0" anchor="t"/>
          <a:lstStyle/>
          <a:p>
            <a:pPr algn="ctr" indent="0" marL="0">
              <a:lnSpc>
                <a:spcPts val="1950"/>
              </a:lnSpc>
              <a:buNone/>
            </a:pPr>
            <a:r>
              <a:rPr lang="en-US" sz="1550" b="1" dirty="0">
                <a:solidFill>
                  <a:srgbClr val="333F70"/>
                </a:solidFill>
                <a:latin typeface="Unbounded Bold" pitchFamily="34" charset="0"/>
                <a:ea typeface="Unbounded Bold" pitchFamily="34" charset="-122"/>
                <a:cs typeface="Unbounded Bold" pitchFamily="34" charset="-120"/>
              </a:rPr>
              <a:t>Time-Consuming Inefficiency</a:t>
            </a:r>
            <a:endParaRPr lang="en-US" sz="1550" dirty="0"/>
          </a:p>
        </p:txBody>
      </p:sp>
      <p:sp>
        <p:nvSpPr>
          <p:cNvPr id="8" name="Text 6"/>
          <p:cNvSpPr/>
          <p:nvPr/>
        </p:nvSpPr>
        <p:spPr>
          <a:xfrm>
            <a:off x="975360" y="2984302"/>
            <a:ext cx="3878580" cy="2032635"/>
          </a:xfrm>
          <a:prstGeom prst="rect">
            <a:avLst/>
          </a:prstGeom>
          <a:noFill/>
          <a:ln/>
        </p:spPr>
        <p:txBody>
          <a:bodyPr wrap="square" lIns="0" tIns="0" rIns="0" bIns="0" rtlCol="0" anchor="t"/>
          <a:lstStyle/>
          <a:p>
            <a:pPr algn="ctr" indent="0" marL="0">
              <a:lnSpc>
                <a:spcPts val="2000"/>
              </a:lnSpc>
              <a:buNone/>
            </a:pPr>
            <a:r>
              <a:rPr lang="en-US" sz="1250" dirty="0">
                <a:solidFill>
                  <a:srgbClr val="333F70"/>
                </a:solidFill>
                <a:latin typeface="Open Sans" pitchFamily="34" charset="0"/>
                <a:ea typeface="Open Sans" pitchFamily="34" charset="-122"/>
                <a:cs typeface="Open Sans" pitchFamily="34" charset="-120"/>
              </a:rPr>
              <a:t>The sheer volume of digital assets means employees and administrative staff spend countless hours manually sifting through vast photo archives. This painstaking process, akin to finding a needle in a digital haystack, detracts significantly from core responsibilities and leads to substantial productivity losses across vital departments like HR, internal communications, and marketing.</a:t>
            </a:r>
            <a:endParaRPr lang="en-US" sz="1250" dirty="0"/>
          </a:p>
        </p:txBody>
      </p:sp>
      <p:sp>
        <p:nvSpPr>
          <p:cNvPr id="9" name="Shape 7"/>
          <p:cNvSpPr/>
          <p:nvPr/>
        </p:nvSpPr>
        <p:spPr>
          <a:xfrm>
            <a:off x="5194221" y="2244209"/>
            <a:ext cx="4241840" cy="3208377"/>
          </a:xfrm>
          <a:prstGeom prst="roundRect">
            <a:avLst>
              <a:gd name="adj" fmla="val 3420"/>
            </a:avLst>
          </a:prstGeom>
          <a:solidFill>
            <a:srgbClr val="FFFFFF"/>
          </a:solidFill>
          <a:ln/>
        </p:spPr>
      </p:sp>
      <p:sp>
        <p:nvSpPr>
          <p:cNvPr id="10" name="Shape 8"/>
          <p:cNvSpPr/>
          <p:nvPr/>
        </p:nvSpPr>
        <p:spPr>
          <a:xfrm>
            <a:off x="5194221" y="2221349"/>
            <a:ext cx="4241840" cy="91440"/>
          </a:xfrm>
          <a:prstGeom prst="roundRect">
            <a:avLst>
              <a:gd name="adj" fmla="val 72930"/>
            </a:avLst>
          </a:prstGeom>
          <a:solidFill>
            <a:srgbClr val="26A688"/>
          </a:solidFill>
          <a:ln/>
        </p:spPr>
      </p:sp>
      <p:sp>
        <p:nvSpPr>
          <p:cNvPr id="11" name="Shape 9"/>
          <p:cNvSpPr/>
          <p:nvPr/>
        </p:nvSpPr>
        <p:spPr>
          <a:xfrm>
            <a:off x="7076956" y="2006084"/>
            <a:ext cx="476250" cy="476250"/>
          </a:xfrm>
          <a:prstGeom prst="roundRect">
            <a:avLst>
              <a:gd name="adj" fmla="val 192000"/>
            </a:avLst>
          </a:prstGeom>
          <a:solidFill>
            <a:srgbClr val="26A688"/>
          </a:solidFill>
          <a:ln/>
        </p:spPr>
      </p:sp>
      <p:sp>
        <p:nvSpPr>
          <p:cNvPr id="12" name="Text 10"/>
          <p:cNvSpPr/>
          <p:nvPr/>
        </p:nvSpPr>
        <p:spPr>
          <a:xfrm>
            <a:off x="7219831" y="2125147"/>
            <a:ext cx="190500" cy="238125"/>
          </a:xfrm>
          <a:prstGeom prst="rect">
            <a:avLst/>
          </a:prstGeom>
          <a:noFill/>
          <a:ln/>
        </p:spPr>
        <p:txBody>
          <a:bodyPr wrap="none" lIns="0" tIns="0" rIns="0" bIns="0" rtlCol="0" anchor="t"/>
          <a:lstStyle/>
          <a:p>
            <a:pPr algn="ctr" indent="0" marL="0">
              <a:lnSpc>
                <a:spcPts val="2400"/>
              </a:lnSpc>
              <a:buNone/>
            </a:pPr>
            <a:r>
              <a:rPr lang="en-US" sz="1500" b="1" dirty="0">
                <a:solidFill>
                  <a:srgbClr val="FFFFFF"/>
                </a:solidFill>
                <a:latin typeface="Unbounded Bold" pitchFamily="34" charset="0"/>
                <a:ea typeface="Unbounded Bold" pitchFamily="34" charset="-122"/>
                <a:cs typeface="Unbounded Bold" pitchFamily="34" charset="-120"/>
              </a:rPr>
              <a:t>2</a:t>
            </a:r>
            <a:endParaRPr lang="en-US" sz="1500" dirty="0"/>
          </a:p>
        </p:txBody>
      </p:sp>
      <p:sp>
        <p:nvSpPr>
          <p:cNvPr id="13" name="Text 11"/>
          <p:cNvSpPr/>
          <p:nvPr/>
        </p:nvSpPr>
        <p:spPr>
          <a:xfrm>
            <a:off x="5400318" y="2641044"/>
            <a:ext cx="3829526" cy="248007"/>
          </a:xfrm>
          <a:prstGeom prst="rect">
            <a:avLst/>
          </a:prstGeom>
          <a:noFill/>
          <a:ln/>
        </p:spPr>
        <p:txBody>
          <a:bodyPr wrap="none" lIns="0" tIns="0" rIns="0" bIns="0" rtlCol="0" anchor="t"/>
          <a:lstStyle/>
          <a:p>
            <a:pPr algn="ctr" indent="0" marL="0">
              <a:lnSpc>
                <a:spcPts val="1950"/>
              </a:lnSpc>
              <a:buNone/>
            </a:pPr>
            <a:r>
              <a:rPr lang="en-US" sz="1550" b="1" dirty="0">
                <a:solidFill>
                  <a:srgbClr val="333F70"/>
                </a:solidFill>
                <a:latin typeface="Unbounded Bold" pitchFamily="34" charset="0"/>
                <a:ea typeface="Unbounded Bold" pitchFamily="34" charset="-122"/>
                <a:cs typeface="Unbounded Bold" pitchFamily="34" charset="-120"/>
              </a:rPr>
              <a:t>Underutilized Strategic Assets</a:t>
            </a:r>
            <a:endParaRPr lang="en-US" sz="1550" dirty="0"/>
          </a:p>
        </p:txBody>
      </p:sp>
      <p:sp>
        <p:nvSpPr>
          <p:cNvPr id="14" name="Text 12"/>
          <p:cNvSpPr/>
          <p:nvPr/>
        </p:nvSpPr>
        <p:spPr>
          <a:xfrm>
            <a:off x="5375791" y="2984302"/>
            <a:ext cx="3878699" cy="2286714"/>
          </a:xfrm>
          <a:prstGeom prst="rect">
            <a:avLst/>
          </a:prstGeom>
          <a:noFill/>
          <a:ln/>
        </p:spPr>
        <p:txBody>
          <a:bodyPr wrap="square" lIns="0" tIns="0" rIns="0" bIns="0" rtlCol="0" anchor="t"/>
          <a:lstStyle/>
          <a:p>
            <a:pPr algn="ctr" indent="0" marL="0">
              <a:lnSpc>
                <a:spcPts val="2000"/>
              </a:lnSpc>
              <a:buNone/>
            </a:pPr>
            <a:r>
              <a:rPr lang="en-US" sz="1250" dirty="0">
                <a:solidFill>
                  <a:srgbClr val="333F70"/>
                </a:solidFill>
                <a:latin typeface="Open Sans" pitchFamily="34" charset="0"/>
                <a:ea typeface="Open Sans" pitchFamily="34" charset="-122"/>
                <a:cs typeface="Open Sans" pitchFamily="34" charset="-120"/>
              </a:rPr>
              <a:t>Beyond mere storage, these photographs are invaluable records of PowerGrid's journey, milestones, and vibrant corporate culture. Without an efficient retrieval system, these rich visual narratives remain locked away and inaccessible, diminishing their potential for powerful brand storytelling, enhancing employee engagement, robust historical archiving, and celebrating organizational achievements.</a:t>
            </a:r>
            <a:endParaRPr lang="en-US" sz="1250" dirty="0"/>
          </a:p>
        </p:txBody>
      </p:sp>
      <p:sp>
        <p:nvSpPr>
          <p:cNvPr id="15" name="Shape 13"/>
          <p:cNvSpPr/>
          <p:nvPr/>
        </p:nvSpPr>
        <p:spPr>
          <a:xfrm>
            <a:off x="9594771" y="2244209"/>
            <a:ext cx="4241721" cy="3208377"/>
          </a:xfrm>
          <a:prstGeom prst="roundRect">
            <a:avLst>
              <a:gd name="adj" fmla="val 3420"/>
            </a:avLst>
          </a:prstGeom>
          <a:solidFill>
            <a:srgbClr val="FFFFFF"/>
          </a:solidFill>
          <a:ln/>
        </p:spPr>
      </p:sp>
      <p:sp>
        <p:nvSpPr>
          <p:cNvPr id="16" name="Shape 14"/>
          <p:cNvSpPr/>
          <p:nvPr/>
        </p:nvSpPr>
        <p:spPr>
          <a:xfrm>
            <a:off x="9594771" y="2221349"/>
            <a:ext cx="4241721" cy="91440"/>
          </a:xfrm>
          <a:prstGeom prst="roundRect">
            <a:avLst>
              <a:gd name="adj" fmla="val 72930"/>
            </a:avLst>
          </a:prstGeom>
          <a:solidFill>
            <a:srgbClr val="26A688"/>
          </a:solidFill>
          <a:ln/>
        </p:spPr>
      </p:sp>
      <p:sp>
        <p:nvSpPr>
          <p:cNvPr id="17" name="Shape 15"/>
          <p:cNvSpPr/>
          <p:nvPr/>
        </p:nvSpPr>
        <p:spPr>
          <a:xfrm>
            <a:off x="11477506" y="2006084"/>
            <a:ext cx="476250" cy="476250"/>
          </a:xfrm>
          <a:prstGeom prst="roundRect">
            <a:avLst>
              <a:gd name="adj" fmla="val 192000"/>
            </a:avLst>
          </a:prstGeom>
          <a:solidFill>
            <a:srgbClr val="26A688"/>
          </a:solidFill>
          <a:ln/>
        </p:spPr>
      </p:sp>
      <p:sp>
        <p:nvSpPr>
          <p:cNvPr id="18" name="Text 16"/>
          <p:cNvSpPr/>
          <p:nvPr/>
        </p:nvSpPr>
        <p:spPr>
          <a:xfrm>
            <a:off x="11620381" y="2125147"/>
            <a:ext cx="190500" cy="238125"/>
          </a:xfrm>
          <a:prstGeom prst="rect">
            <a:avLst/>
          </a:prstGeom>
          <a:noFill/>
          <a:ln/>
        </p:spPr>
        <p:txBody>
          <a:bodyPr wrap="none" lIns="0" tIns="0" rIns="0" bIns="0" rtlCol="0" anchor="t"/>
          <a:lstStyle/>
          <a:p>
            <a:pPr algn="ctr" indent="0" marL="0">
              <a:lnSpc>
                <a:spcPts val="2400"/>
              </a:lnSpc>
              <a:buNone/>
            </a:pPr>
            <a:r>
              <a:rPr lang="en-US" sz="1500" b="1" dirty="0">
                <a:solidFill>
                  <a:srgbClr val="FFFFFF"/>
                </a:solidFill>
                <a:latin typeface="Unbounded Bold" pitchFamily="34" charset="0"/>
                <a:ea typeface="Unbounded Bold" pitchFamily="34" charset="-122"/>
                <a:cs typeface="Unbounded Bold" pitchFamily="34" charset="-120"/>
              </a:rPr>
              <a:t>3</a:t>
            </a:r>
            <a:endParaRPr lang="en-US" sz="1500" dirty="0"/>
          </a:p>
        </p:txBody>
      </p:sp>
      <p:sp>
        <p:nvSpPr>
          <p:cNvPr id="19" name="Text 17"/>
          <p:cNvSpPr/>
          <p:nvPr/>
        </p:nvSpPr>
        <p:spPr>
          <a:xfrm>
            <a:off x="9776341" y="2641044"/>
            <a:ext cx="3878580" cy="496014"/>
          </a:xfrm>
          <a:prstGeom prst="rect">
            <a:avLst/>
          </a:prstGeom>
          <a:noFill/>
          <a:ln/>
        </p:spPr>
        <p:txBody>
          <a:bodyPr wrap="square" lIns="0" tIns="0" rIns="0" bIns="0" rtlCol="0" anchor="t"/>
          <a:lstStyle/>
          <a:p>
            <a:pPr algn="ctr" indent="0" marL="0">
              <a:lnSpc>
                <a:spcPts val="1950"/>
              </a:lnSpc>
              <a:buNone/>
            </a:pPr>
            <a:r>
              <a:rPr lang="en-US" sz="1550" b="1" dirty="0">
                <a:solidFill>
                  <a:srgbClr val="333F70"/>
                </a:solidFill>
                <a:latin typeface="Unbounded Bold" pitchFamily="34" charset="0"/>
                <a:ea typeface="Unbounded Bold" pitchFamily="34" charset="-122"/>
                <a:cs typeface="Unbounded Bold" pitchFamily="34" charset="-120"/>
              </a:rPr>
              <a:t>Eroding Context &amp; Searchability</a:t>
            </a:r>
            <a:endParaRPr lang="en-US" sz="1550" dirty="0"/>
          </a:p>
        </p:txBody>
      </p:sp>
      <p:sp>
        <p:nvSpPr>
          <p:cNvPr id="20" name="Text 18"/>
          <p:cNvSpPr/>
          <p:nvPr/>
        </p:nvSpPr>
        <p:spPr>
          <a:xfrm>
            <a:off x="9776341" y="3232309"/>
            <a:ext cx="3878580" cy="2032635"/>
          </a:xfrm>
          <a:prstGeom prst="rect">
            <a:avLst/>
          </a:prstGeom>
          <a:noFill/>
          <a:ln/>
        </p:spPr>
        <p:txBody>
          <a:bodyPr wrap="square" lIns="0" tIns="0" rIns="0" bIns="0" rtlCol="0" anchor="t"/>
          <a:lstStyle/>
          <a:p>
            <a:pPr algn="ctr" indent="0" marL="0">
              <a:lnSpc>
                <a:spcPts val="2000"/>
              </a:lnSpc>
              <a:buNone/>
            </a:pPr>
            <a:r>
              <a:rPr lang="en-US" sz="1250" dirty="0">
                <a:solidFill>
                  <a:srgbClr val="333F70"/>
                </a:solidFill>
                <a:latin typeface="Open Sans" pitchFamily="34" charset="0"/>
                <a:ea typeface="Open Sans" pitchFamily="34" charset="-122"/>
                <a:cs typeface="Open Sans" pitchFamily="34" charset="-120"/>
              </a:rPr>
              <a:t>Crucial metadata – such as event names, dates, specific locations, and key participants – is often either missing entirely or inconsistently applied. This absence of rich, structured tagging renders individual photos anonymous and collective albums disjointed, severely hampering accurate retrieval and eroding the historical integrity of PowerGrid's visual archive.</a:t>
            </a:r>
            <a:endParaRPr lang="en-US" sz="1250" dirty="0"/>
          </a:p>
        </p:txBody>
      </p:sp>
      <p:sp>
        <p:nvSpPr>
          <p:cNvPr id="21" name="Shape 19"/>
          <p:cNvSpPr/>
          <p:nvPr/>
        </p:nvSpPr>
        <p:spPr>
          <a:xfrm>
            <a:off x="793790" y="5849422"/>
            <a:ext cx="13042702" cy="1683901"/>
          </a:xfrm>
          <a:prstGeom prst="roundRect">
            <a:avLst>
              <a:gd name="adj" fmla="val 6516"/>
            </a:avLst>
          </a:prstGeom>
          <a:solidFill>
            <a:srgbClr val="FFFFFF"/>
          </a:solidFill>
          <a:ln/>
        </p:spPr>
      </p:sp>
      <p:sp>
        <p:nvSpPr>
          <p:cNvPr id="22" name="Shape 20"/>
          <p:cNvSpPr/>
          <p:nvPr/>
        </p:nvSpPr>
        <p:spPr>
          <a:xfrm>
            <a:off x="793790" y="5826562"/>
            <a:ext cx="13042702" cy="91440"/>
          </a:xfrm>
          <a:prstGeom prst="roundRect">
            <a:avLst>
              <a:gd name="adj" fmla="val 72930"/>
            </a:avLst>
          </a:prstGeom>
          <a:solidFill>
            <a:srgbClr val="26A688"/>
          </a:solidFill>
          <a:ln/>
        </p:spPr>
      </p:sp>
      <p:sp>
        <p:nvSpPr>
          <p:cNvPr id="23" name="Shape 21"/>
          <p:cNvSpPr/>
          <p:nvPr/>
        </p:nvSpPr>
        <p:spPr>
          <a:xfrm>
            <a:off x="7076956" y="5611297"/>
            <a:ext cx="476250" cy="476250"/>
          </a:xfrm>
          <a:prstGeom prst="roundRect">
            <a:avLst>
              <a:gd name="adj" fmla="val 192000"/>
            </a:avLst>
          </a:prstGeom>
          <a:solidFill>
            <a:srgbClr val="26A688"/>
          </a:solidFill>
          <a:ln/>
        </p:spPr>
      </p:sp>
      <p:sp>
        <p:nvSpPr>
          <p:cNvPr id="24" name="Text 22"/>
          <p:cNvSpPr/>
          <p:nvPr/>
        </p:nvSpPr>
        <p:spPr>
          <a:xfrm>
            <a:off x="7219831" y="5730359"/>
            <a:ext cx="190500" cy="238125"/>
          </a:xfrm>
          <a:prstGeom prst="rect">
            <a:avLst/>
          </a:prstGeom>
          <a:noFill/>
          <a:ln/>
        </p:spPr>
        <p:txBody>
          <a:bodyPr wrap="none" lIns="0" tIns="0" rIns="0" bIns="0" rtlCol="0" anchor="t"/>
          <a:lstStyle/>
          <a:p>
            <a:pPr algn="ctr" indent="0" marL="0">
              <a:lnSpc>
                <a:spcPts val="2400"/>
              </a:lnSpc>
              <a:buNone/>
            </a:pPr>
            <a:r>
              <a:rPr lang="en-US" sz="1500" b="1" dirty="0">
                <a:solidFill>
                  <a:srgbClr val="FFFFFF"/>
                </a:solidFill>
                <a:latin typeface="Unbounded Bold" pitchFamily="34" charset="0"/>
                <a:ea typeface="Unbounded Bold" pitchFamily="34" charset="-122"/>
                <a:cs typeface="Unbounded Bold" pitchFamily="34" charset="-120"/>
              </a:rPr>
              <a:t>4</a:t>
            </a:r>
            <a:endParaRPr lang="en-US" sz="1500" dirty="0"/>
          </a:p>
        </p:txBody>
      </p:sp>
      <p:sp>
        <p:nvSpPr>
          <p:cNvPr id="25" name="Text 23"/>
          <p:cNvSpPr/>
          <p:nvPr/>
        </p:nvSpPr>
        <p:spPr>
          <a:xfrm>
            <a:off x="5654040" y="6246257"/>
            <a:ext cx="3322201" cy="248007"/>
          </a:xfrm>
          <a:prstGeom prst="rect">
            <a:avLst/>
          </a:prstGeom>
          <a:noFill/>
          <a:ln/>
        </p:spPr>
        <p:txBody>
          <a:bodyPr wrap="none" lIns="0" tIns="0" rIns="0" bIns="0" rtlCol="0" anchor="t"/>
          <a:lstStyle/>
          <a:p>
            <a:pPr algn="ctr" indent="0" marL="0">
              <a:lnSpc>
                <a:spcPts val="1950"/>
              </a:lnSpc>
              <a:buNone/>
            </a:pPr>
            <a:r>
              <a:rPr lang="en-US" sz="1550" b="1" dirty="0">
                <a:solidFill>
                  <a:srgbClr val="333F70"/>
                </a:solidFill>
                <a:latin typeface="Unbounded Bold" pitchFamily="34" charset="0"/>
                <a:ea typeface="Unbounded Bold" pitchFamily="34" charset="-122"/>
                <a:cs typeface="Unbounded Bold" pitchFamily="34" charset="-120"/>
              </a:rPr>
              <a:t>Significant Resource Drain</a:t>
            </a:r>
            <a:endParaRPr lang="en-US" sz="1550" dirty="0"/>
          </a:p>
        </p:txBody>
      </p:sp>
      <p:sp>
        <p:nvSpPr>
          <p:cNvPr id="26" name="Text 24"/>
          <p:cNvSpPr/>
          <p:nvPr/>
        </p:nvSpPr>
        <p:spPr>
          <a:xfrm>
            <a:off x="975360" y="6589514"/>
            <a:ext cx="12679561" cy="762238"/>
          </a:xfrm>
          <a:prstGeom prst="rect">
            <a:avLst/>
          </a:prstGeom>
          <a:noFill/>
          <a:ln/>
        </p:spPr>
        <p:txBody>
          <a:bodyPr wrap="square" lIns="0" tIns="0" rIns="0" bIns="0" rtlCol="0" anchor="t"/>
          <a:lstStyle/>
          <a:p>
            <a:pPr algn="ctr" indent="0" marL="0">
              <a:lnSpc>
                <a:spcPts val="2000"/>
              </a:lnSpc>
              <a:buNone/>
            </a:pPr>
            <a:r>
              <a:rPr lang="en-US" sz="1250" dirty="0">
                <a:solidFill>
                  <a:srgbClr val="333F70"/>
                </a:solidFill>
                <a:latin typeface="Open Sans" pitchFamily="34" charset="0"/>
                <a:ea typeface="Open Sans" pitchFamily="34" charset="-122"/>
                <a:cs typeface="Open Sans" pitchFamily="34" charset="-120"/>
              </a:rPr>
              <a:t>Maintaining an unorganized and ever-growing photo library leads to a considerable drain on both human and technological resources. This includes increased demands on IT infrastructure for inefficient storage, slower network performance, and the opportunity cost of valuable staff time diverted from strategic initiatives to perform mundane, manual photo management tasks.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72847"/>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Project Scope: The AI-Driven Solution</a:t>
            </a:r>
            <a:endParaRPr lang="en-US" sz="4450" dirty="0"/>
          </a:p>
        </p:txBody>
      </p:sp>
      <p:sp>
        <p:nvSpPr>
          <p:cNvPr id="3" name="Text 1"/>
          <p:cNvSpPr/>
          <p:nvPr/>
        </p:nvSpPr>
        <p:spPr>
          <a:xfrm>
            <a:off x="793790" y="2744033"/>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The PowerGrid Face Recognition Portal leverages AI and deep learning to automate employee identification in photos, providing a modern, technology-driven solution.</a:t>
            </a:r>
            <a:endParaRPr lang="en-US" sz="17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724989"/>
            <a:ext cx="680442" cy="680442"/>
          </a:xfrm>
          <a:prstGeom prst="rect">
            <a:avLst/>
          </a:prstGeom>
        </p:spPr>
      </p:pic>
      <p:sp>
        <p:nvSpPr>
          <p:cNvPr id="5" name="Text 2"/>
          <p:cNvSpPr/>
          <p:nvPr/>
        </p:nvSpPr>
        <p:spPr>
          <a:xfrm>
            <a:off x="1757720" y="3916323"/>
            <a:ext cx="4390906"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User-Friendly Web Portal</a:t>
            </a:r>
            <a:endParaRPr lang="en-US" sz="2200" dirty="0"/>
          </a:p>
        </p:txBody>
      </p:sp>
      <p:sp>
        <p:nvSpPr>
          <p:cNvPr id="6" name="Text 3"/>
          <p:cNvSpPr/>
          <p:nvPr/>
        </p:nvSpPr>
        <p:spPr>
          <a:xfrm>
            <a:off x="1757720" y="4406741"/>
            <a:ext cx="5415677"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Secure, user-friendly access for employees to view their matched photos.</a:t>
            </a:r>
            <a:endParaRPr lang="en-US" sz="17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3724989"/>
            <a:ext cx="680442" cy="680442"/>
          </a:xfrm>
          <a:prstGeom prst="rect">
            <a:avLst/>
          </a:prstGeom>
        </p:spPr>
      </p:pic>
      <p:sp>
        <p:nvSpPr>
          <p:cNvPr id="8" name="Text 4"/>
          <p:cNvSpPr/>
          <p:nvPr/>
        </p:nvSpPr>
        <p:spPr>
          <a:xfrm>
            <a:off x="8420814" y="3916323"/>
            <a:ext cx="4311253"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High-Accuracy AI Engine</a:t>
            </a:r>
            <a:endParaRPr lang="en-US" sz="2200" dirty="0"/>
          </a:p>
        </p:txBody>
      </p:sp>
      <p:sp>
        <p:nvSpPr>
          <p:cNvPr id="9" name="Text 5"/>
          <p:cNvSpPr/>
          <p:nvPr/>
        </p:nvSpPr>
        <p:spPr>
          <a:xfrm>
            <a:off x="8420814" y="4406741"/>
            <a:ext cx="5415796"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Implementation of the ArcFace deep learning model for high-accuracy face recognition.</a:t>
            </a:r>
            <a:endParaRPr lang="en-US" sz="17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5586174"/>
            <a:ext cx="680442" cy="680442"/>
          </a:xfrm>
          <a:prstGeom prst="rect">
            <a:avLst/>
          </a:prstGeom>
        </p:spPr>
      </p:pic>
      <p:sp>
        <p:nvSpPr>
          <p:cNvPr id="11" name="Text 6"/>
          <p:cNvSpPr/>
          <p:nvPr/>
        </p:nvSpPr>
        <p:spPr>
          <a:xfrm>
            <a:off x="1757720" y="5777508"/>
            <a:ext cx="3597950"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Scalable Data Layer</a:t>
            </a:r>
            <a:endParaRPr lang="en-US" sz="2200" dirty="0"/>
          </a:p>
        </p:txBody>
      </p:sp>
      <p:sp>
        <p:nvSpPr>
          <p:cNvPr id="12" name="Text 7"/>
          <p:cNvSpPr/>
          <p:nvPr/>
        </p:nvSpPr>
        <p:spPr>
          <a:xfrm>
            <a:off x="1757720" y="6267926"/>
            <a:ext cx="5415677"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Deployment of a scalable MySQL database for employee profiles, event metadata, and facial embeddings.</a:t>
            </a:r>
            <a:endParaRPr lang="en-US" sz="17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5586174"/>
            <a:ext cx="680442" cy="680442"/>
          </a:xfrm>
          <a:prstGeom prst="rect">
            <a:avLst/>
          </a:prstGeom>
        </p:spPr>
      </p:pic>
      <p:sp>
        <p:nvSpPr>
          <p:cNvPr id="14" name="Text 8"/>
          <p:cNvSpPr/>
          <p:nvPr/>
        </p:nvSpPr>
        <p:spPr>
          <a:xfrm>
            <a:off x="8420814" y="5777508"/>
            <a:ext cx="3546158"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Complete Workflow</a:t>
            </a:r>
            <a:endParaRPr lang="en-US" sz="2200" dirty="0"/>
          </a:p>
        </p:txBody>
      </p:sp>
      <p:sp>
        <p:nvSpPr>
          <p:cNvPr id="15" name="Text 9"/>
          <p:cNvSpPr/>
          <p:nvPr/>
        </p:nvSpPr>
        <p:spPr>
          <a:xfrm>
            <a:off x="8420814" y="6267926"/>
            <a:ext cx="5415796"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Full workflow from offline batch processing to real-time presentation of results.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37498"/>
            <a:ext cx="8639175" cy="496133"/>
          </a:xfrm>
          <a:prstGeom prst="rect">
            <a:avLst/>
          </a:prstGeom>
          <a:noFill/>
          <a:ln/>
        </p:spPr>
        <p:txBody>
          <a:bodyPr wrap="none" lIns="0" tIns="0" rIns="0" bIns="0" rtlCol="0" anchor="t"/>
          <a:lstStyle/>
          <a:p>
            <a:pPr algn="l" indent="0" marL="0">
              <a:lnSpc>
                <a:spcPts val="3900"/>
              </a:lnSpc>
              <a:buNone/>
            </a:pPr>
            <a:r>
              <a:rPr lang="en-US" sz="3100" b="1" dirty="0">
                <a:solidFill>
                  <a:srgbClr val="333F70"/>
                </a:solidFill>
                <a:latin typeface="Unbounded Bold" pitchFamily="34" charset="0"/>
                <a:ea typeface="Unbounded Bold" pitchFamily="34" charset="-122"/>
                <a:cs typeface="Unbounded Bold" pitchFamily="34" charset="-120"/>
              </a:rPr>
              <a:t>System Architecture: 3-Tier Design</a:t>
            </a:r>
            <a:endParaRPr lang="en-US" sz="3100" dirty="0"/>
          </a:p>
        </p:txBody>
      </p:sp>
      <p:pic>
        <p:nvPicPr>
          <p:cNvPr id="3" name="Image 0" descr="preencoded.png">    </p:cNvPr>
          <p:cNvPicPr>
            <a:picLocks noChangeAspect="1"/>
          </p:cNvPicPr>
          <p:nvPr/>
        </p:nvPicPr>
        <p:blipFill>
          <a:blip r:embed="rId1"/>
          <a:stretch>
            <a:fillRect/>
          </a:stretch>
        </p:blipFill>
        <p:spPr>
          <a:xfrm>
            <a:off x="2750225" y="1751171"/>
            <a:ext cx="9129951" cy="4178260"/>
          </a:xfrm>
          <a:prstGeom prst="rect">
            <a:avLst/>
          </a:prstGeom>
        </p:spPr>
      </p:pic>
      <p:sp>
        <p:nvSpPr>
          <p:cNvPr id="4" name="Text 1"/>
          <p:cNvSpPr/>
          <p:nvPr/>
        </p:nvSpPr>
        <p:spPr>
          <a:xfrm>
            <a:off x="9437941" y="2280741"/>
            <a:ext cx="2019631" cy="252454"/>
          </a:xfrm>
          <a:prstGeom prst="rect">
            <a:avLst/>
          </a:prstGeom>
          <a:noFill/>
          <a:ln/>
        </p:spPr>
        <p:txBody>
          <a:bodyPr wrap="none" lIns="0" tIns="0" rIns="0" bIns="0" rtlCol="0" anchor="t"/>
          <a:lstStyle/>
          <a:p>
            <a:pPr algn="l" indent="0" marL="0">
              <a:lnSpc>
                <a:spcPts val="1650"/>
              </a:lnSpc>
              <a:buNone/>
            </a:pPr>
            <a:r>
              <a:rPr lang="en-US" sz="1350" b="1" dirty="0">
                <a:solidFill>
                  <a:srgbClr val="333F70"/>
                </a:solidFill>
                <a:latin typeface="Unbounded Bold" pitchFamily="34" charset="0"/>
                <a:ea typeface="Unbounded Bold" pitchFamily="34" charset="-122"/>
                <a:cs typeface="Unbounded Bold" pitchFamily="34" charset="-120"/>
              </a:rPr>
              <a:t>Data</a:t>
            </a:r>
            <a:endParaRPr lang="en-US" sz="1350" dirty="0"/>
          </a:p>
        </p:txBody>
      </p:sp>
      <p:sp>
        <p:nvSpPr>
          <p:cNvPr id="5" name="Text 2"/>
          <p:cNvSpPr/>
          <p:nvPr/>
        </p:nvSpPr>
        <p:spPr>
          <a:xfrm>
            <a:off x="9437941" y="2605004"/>
            <a:ext cx="2226082" cy="403926"/>
          </a:xfrm>
          <a:prstGeom prst="rect">
            <a:avLst/>
          </a:prstGeom>
          <a:noFill/>
          <a:ln/>
        </p:spPr>
        <p:txBody>
          <a:bodyPr wrap="square" lIns="0" tIns="0" rIns="0" bIns="0" rtlCol="0" anchor="t"/>
          <a:lstStyle/>
          <a:p>
            <a:pPr algn="l" indent="0" marL="0">
              <a:lnSpc>
                <a:spcPts val="1350"/>
              </a:lnSpc>
              <a:buNone/>
            </a:pPr>
            <a:r>
              <a:rPr lang="en-US" sz="1050" dirty="0">
                <a:solidFill>
                  <a:srgbClr val="333F70"/>
                </a:solidFill>
                <a:latin typeface="Open Sans" pitchFamily="34" charset="0"/>
                <a:ea typeface="Open Sans" pitchFamily="34" charset="-122"/>
                <a:cs typeface="Open Sans" pitchFamily="34" charset="-120"/>
              </a:rPr>
              <a:t>MySQL database for persistent storage</a:t>
            </a:r>
            <a:endParaRPr lang="en-US" sz="1050" dirty="0"/>
          </a:p>
        </p:txBody>
      </p:sp>
      <p:sp>
        <p:nvSpPr>
          <p:cNvPr id="6" name="Text 3"/>
          <p:cNvSpPr/>
          <p:nvPr/>
        </p:nvSpPr>
        <p:spPr>
          <a:xfrm>
            <a:off x="2993078" y="3654089"/>
            <a:ext cx="2019630" cy="252454"/>
          </a:xfrm>
          <a:prstGeom prst="rect">
            <a:avLst/>
          </a:prstGeom>
          <a:noFill/>
          <a:ln/>
        </p:spPr>
        <p:txBody>
          <a:bodyPr wrap="none" lIns="0" tIns="0" rIns="0" bIns="0" rtlCol="0" anchor="t"/>
          <a:lstStyle/>
          <a:p>
            <a:pPr algn="r" indent="0" marL="0">
              <a:lnSpc>
                <a:spcPts val="1650"/>
              </a:lnSpc>
              <a:buNone/>
            </a:pPr>
            <a:r>
              <a:rPr lang="en-US" sz="1350" b="1" dirty="0">
                <a:solidFill>
                  <a:srgbClr val="333F70"/>
                </a:solidFill>
                <a:latin typeface="Unbounded Bold" pitchFamily="34" charset="0"/>
                <a:ea typeface="Unbounded Bold" pitchFamily="34" charset="-122"/>
                <a:cs typeface="Unbounded Bold" pitchFamily="34" charset="-120"/>
              </a:rPr>
              <a:t>Application</a:t>
            </a:r>
            <a:endParaRPr lang="en-US" sz="1350" dirty="0"/>
          </a:p>
        </p:txBody>
      </p:sp>
      <p:sp>
        <p:nvSpPr>
          <p:cNvPr id="7" name="Text 4"/>
          <p:cNvSpPr/>
          <p:nvPr/>
        </p:nvSpPr>
        <p:spPr>
          <a:xfrm>
            <a:off x="2966149" y="3978352"/>
            <a:ext cx="2046559" cy="403926"/>
          </a:xfrm>
          <a:prstGeom prst="rect">
            <a:avLst/>
          </a:prstGeom>
          <a:noFill/>
          <a:ln/>
        </p:spPr>
        <p:txBody>
          <a:bodyPr wrap="square" lIns="0" tIns="0" rIns="0" bIns="0" rtlCol="0" anchor="t"/>
          <a:lstStyle/>
          <a:p>
            <a:pPr algn="r" indent="0" marL="0">
              <a:lnSpc>
                <a:spcPts val="1350"/>
              </a:lnSpc>
              <a:buNone/>
            </a:pPr>
            <a:r>
              <a:rPr lang="en-US" sz="1050" dirty="0">
                <a:solidFill>
                  <a:srgbClr val="333F70"/>
                </a:solidFill>
                <a:latin typeface="Open Sans" pitchFamily="34" charset="0"/>
                <a:ea typeface="Open Sans" pitchFamily="34" charset="-122"/>
                <a:cs typeface="Open Sans" pitchFamily="34" charset="-120"/>
              </a:rPr>
              <a:t>Python Flask web server for core logic</a:t>
            </a:r>
            <a:endParaRPr lang="en-US" sz="1050" dirty="0"/>
          </a:p>
        </p:txBody>
      </p:sp>
      <p:sp>
        <p:nvSpPr>
          <p:cNvPr id="8" name="Text 5"/>
          <p:cNvSpPr/>
          <p:nvPr/>
        </p:nvSpPr>
        <p:spPr>
          <a:xfrm>
            <a:off x="9437941" y="4363204"/>
            <a:ext cx="2019631" cy="252454"/>
          </a:xfrm>
          <a:prstGeom prst="rect">
            <a:avLst/>
          </a:prstGeom>
          <a:noFill/>
          <a:ln/>
        </p:spPr>
        <p:txBody>
          <a:bodyPr wrap="none" lIns="0" tIns="0" rIns="0" bIns="0" rtlCol="0" anchor="t"/>
          <a:lstStyle/>
          <a:p>
            <a:pPr algn="l" indent="0" marL="0">
              <a:lnSpc>
                <a:spcPts val="1650"/>
              </a:lnSpc>
              <a:buNone/>
            </a:pPr>
            <a:r>
              <a:rPr lang="en-US" sz="1350" b="1" dirty="0">
                <a:solidFill>
                  <a:srgbClr val="333F70"/>
                </a:solidFill>
                <a:latin typeface="Unbounded Bold" pitchFamily="34" charset="0"/>
                <a:ea typeface="Unbounded Bold" pitchFamily="34" charset="-122"/>
                <a:cs typeface="Unbounded Bold" pitchFamily="34" charset="-120"/>
              </a:rPr>
              <a:t>Presentation</a:t>
            </a:r>
            <a:endParaRPr lang="en-US" sz="1350" dirty="0"/>
          </a:p>
        </p:txBody>
      </p:sp>
      <p:sp>
        <p:nvSpPr>
          <p:cNvPr id="9" name="Text 6"/>
          <p:cNvSpPr/>
          <p:nvPr/>
        </p:nvSpPr>
        <p:spPr>
          <a:xfrm>
            <a:off x="9437941" y="4687466"/>
            <a:ext cx="2226082" cy="403926"/>
          </a:xfrm>
          <a:prstGeom prst="rect">
            <a:avLst/>
          </a:prstGeom>
          <a:noFill/>
          <a:ln/>
        </p:spPr>
        <p:txBody>
          <a:bodyPr wrap="square" lIns="0" tIns="0" rIns="0" bIns="0" rtlCol="0" anchor="t"/>
          <a:lstStyle/>
          <a:p>
            <a:pPr algn="l" indent="0" marL="0">
              <a:lnSpc>
                <a:spcPts val="1350"/>
              </a:lnSpc>
              <a:buNone/>
            </a:pPr>
            <a:r>
              <a:rPr lang="en-US" sz="1050" dirty="0">
                <a:solidFill>
                  <a:srgbClr val="333F70"/>
                </a:solidFill>
                <a:latin typeface="Open Sans" pitchFamily="34" charset="0"/>
                <a:ea typeface="Open Sans" pitchFamily="34" charset="-122"/>
                <a:cs typeface="Open Sans" pitchFamily="34" charset="-120"/>
              </a:rPr>
              <a:t>HTML5, CSS3, Bootstrap 5 for responsive UI</a:t>
            </a:r>
            <a:endParaRPr lang="en-US" sz="1050" dirty="0"/>
          </a:p>
        </p:txBody>
      </p:sp>
      <p:sp>
        <p:nvSpPr>
          <p:cNvPr id="10" name="Shape 7"/>
          <p:cNvSpPr/>
          <p:nvPr/>
        </p:nvSpPr>
        <p:spPr>
          <a:xfrm>
            <a:off x="793790" y="6108025"/>
            <a:ext cx="4241721" cy="1184077"/>
          </a:xfrm>
          <a:prstGeom prst="roundRect">
            <a:avLst>
              <a:gd name="adj" fmla="val 5632"/>
            </a:avLst>
          </a:prstGeom>
          <a:solidFill>
            <a:srgbClr val="26A688"/>
          </a:solidFill>
          <a:ln w="7620">
            <a:solidFill>
              <a:srgbClr val="3FBFA1"/>
            </a:solidFill>
            <a:prstDash val="solid"/>
          </a:ln>
        </p:spPr>
      </p:sp>
      <p:sp>
        <p:nvSpPr>
          <p:cNvPr id="11" name="Text 8"/>
          <p:cNvSpPr/>
          <p:nvPr/>
        </p:nvSpPr>
        <p:spPr>
          <a:xfrm>
            <a:off x="960120" y="6274356"/>
            <a:ext cx="2401610" cy="248007"/>
          </a:xfrm>
          <a:prstGeom prst="rect">
            <a:avLst/>
          </a:prstGeom>
          <a:noFill/>
          <a:ln/>
        </p:spPr>
        <p:txBody>
          <a:bodyPr wrap="none" lIns="0" tIns="0" rIns="0" bIns="0" rtlCol="0" anchor="t"/>
          <a:lstStyle/>
          <a:p>
            <a:pPr algn="l" indent="0" marL="0">
              <a:lnSpc>
                <a:spcPts val="1950"/>
              </a:lnSpc>
              <a:buNone/>
            </a:pPr>
            <a:r>
              <a:rPr lang="en-US" sz="1550" b="1" dirty="0">
                <a:solidFill>
                  <a:srgbClr val="FFFFFF"/>
                </a:solidFill>
                <a:latin typeface="Unbounded Bold" pitchFamily="34" charset="0"/>
                <a:ea typeface="Unbounded Bold" pitchFamily="34" charset="-122"/>
                <a:cs typeface="Unbounded Bold" pitchFamily="34" charset="-120"/>
              </a:rPr>
              <a:t>Presentation Layer</a:t>
            </a:r>
            <a:endParaRPr lang="en-US" sz="1550" dirty="0"/>
          </a:p>
        </p:txBody>
      </p:sp>
      <p:sp>
        <p:nvSpPr>
          <p:cNvPr id="12" name="Text 9"/>
          <p:cNvSpPr/>
          <p:nvPr/>
        </p:nvSpPr>
        <p:spPr>
          <a:xfrm>
            <a:off x="960120" y="6617613"/>
            <a:ext cx="3909060" cy="508159"/>
          </a:xfrm>
          <a:prstGeom prst="rect">
            <a:avLst/>
          </a:prstGeom>
          <a:noFill/>
          <a:ln/>
        </p:spPr>
        <p:txBody>
          <a:bodyPr wrap="square" lIns="0" tIns="0" rIns="0" bIns="0" rtlCol="0" anchor="t"/>
          <a:lstStyle/>
          <a:p>
            <a:pPr algn="l" indent="0" marL="0">
              <a:lnSpc>
                <a:spcPts val="2000"/>
              </a:lnSpc>
              <a:buNone/>
            </a:pPr>
            <a:r>
              <a:rPr lang="en-US" sz="1250" dirty="0">
                <a:solidFill>
                  <a:srgbClr val="FFFFFF"/>
                </a:solidFill>
                <a:latin typeface="Open Sans" pitchFamily="34" charset="0"/>
                <a:ea typeface="Open Sans" pitchFamily="34" charset="-122"/>
                <a:cs typeface="Open Sans" pitchFamily="34" charset="-120"/>
              </a:rPr>
              <a:t>Frontend UI using HTML5, CSS3, and Bootstrap 5 for responsive design.</a:t>
            </a:r>
            <a:endParaRPr lang="en-US" sz="1250" dirty="0"/>
          </a:p>
        </p:txBody>
      </p:sp>
      <p:sp>
        <p:nvSpPr>
          <p:cNvPr id="13" name="Shape 10"/>
          <p:cNvSpPr/>
          <p:nvPr/>
        </p:nvSpPr>
        <p:spPr>
          <a:xfrm>
            <a:off x="5194221" y="6108025"/>
            <a:ext cx="4241840" cy="1184077"/>
          </a:xfrm>
          <a:prstGeom prst="roundRect">
            <a:avLst>
              <a:gd name="adj" fmla="val 5632"/>
            </a:avLst>
          </a:prstGeom>
          <a:solidFill>
            <a:srgbClr val="26A688"/>
          </a:solidFill>
          <a:ln w="7620">
            <a:solidFill>
              <a:srgbClr val="3FBFA1"/>
            </a:solidFill>
            <a:prstDash val="solid"/>
          </a:ln>
        </p:spPr>
      </p:sp>
      <p:sp>
        <p:nvSpPr>
          <p:cNvPr id="14" name="Text 11"/>
          <p:cNvSpPr/>
          <p:nvPr/>
        </p:nvSpPr>
        <p:spPr>
          <a:xfrm>
            <a:off x="5360551" y="6274356"/>
            <a:ext cx="2212896" cy="248007"/>
          </a:xfrm>
          <a:prstGeom prst="rect">
            <a:avLst/>
          </a:prstGeom>
          <a:noFill/>
          <a:ln/>
        </p:spPr>
        <p:txBody>
          <a:bodyPr wrap="none" lIns="0" tIns="0" rIns="0" bIns="0" rtlCol="0" anchor="t"/>
          <a:lstStyle/>
          <a:p>
            <a:pPr algn="l" indent="0" marL="0">
              <a:lnSpc>
                <a:spcPts val="1950"/>
              </a:lnSpc>
              <a:buNone/>
            </a:pPr>
            <a:r>
              <a:rPr lang="en-US" sz="1550" b="1" dirty="0">
                <a:solidFill>
                  <a:srgbClr val="FFFFFF"/>
                </a:solidFill>
                <a:latin typeface="Unbounded Bold" pitchFamily="34" charset="0"/>
                <a:ea typeface="Unbounded Bold" pitchFamily="34" charset="-122"/>
                <a:cs typeface="Unbounded Bold" pitchFamily="34" charset="-120"/>
              </a:rPr>
              <a:t>Application Layer</a:t>
            </a:r>
            <a:endParaRPr lang="en-US" sz="1550" dirty="0"/>
          </a:p>
        </p:txBody>
      </p:sp>
      <p:sp>
        <p:nvSpPr>
          <p:cNvPr id="15" name="Text 12"/>
          <p:cNvSpPr/>
          <p:nvPr/>
        </p:nvSpPr>
        <p:spPr>
          <a:xfrm>
            <a:off x="5360551" y="6617613"/>
            <a:ext cx="3909179" cy="508159"/>
          </a:xfrm>
          <a:prstGeom prst="rect">
            <a:avLst/>
          </a:prstGeom>
          <a:noFill/>
          <a:ln/>
        </p:spPr>
        <p:txBody>
          <a:bodyPr wrap="square" lIns="0" tIns="0" rIns="0" bIns="0" rtlCol="0" anchor="t"/>
          <a:lstStyle/>
          <a:p>
            <a:pPr algn="l" indent="0" marL="0">
              <a:lnSpc>
                <a:spcPts val="2000"/>
              </a:lnSpc>
              <a:buNone/>
            </a:pPr>
            <a:r>
              <a:rPr lang="en-US" sz="1250" dirty="0">
                <a:solidFill>
                  <a:srgbClr val="FFFFFF"/>
                </a:solidFill>
                <a:latin typeface="Open Sans" pitchFamily="34" charset="0"/>
                <a:ea typeface="Open Sans" pitchFamily="34" charset="-122"/>
                <a:cs typeface="Open Sans" pitchFamily="34" charset="-120"/>
              </a:rPr>
              <a:t>Core logic powered by a Python Flask server, handling authentication and orchestration.</a:t>
            </a:r>
            <a:endParaRPr lang="en-US" sz="1250" dirty="0"/>
          </a:p>
        </p:txBody>
      </p:sp>
      <p:sp>
        <p:nvSpPr>
          <p:cNvPr id="16" name="Shape 13"/>
          <p:cNvSpPr/>
          <p:nvPr/>
        </p:nvSpPr>
        <p:spPr>
          <a:xfrm>
            <a:off x="9594771" y="6108025"/>
            <a:ext cx="4241721" cy="1184077"/>
          </a:xfrm>
          <a:prstGeom prst="roundRect">
            <a:avLst>
              <a:gd name="adj" fmla="val 5632"/>
            </a:avLst>
          </a:prstGeom>
          <a:solidFill>
            <a:srgbClr val="26A688"/>
          </a:solidFill>
          <a:ln w="7620">
            <a:solidFill>
              <a:srgbClr val="3FBFA1"/>
            </a:solidFill>
            <a:prstDash val="solid"/>
          </a:ln>
        </p:spPr>
      </p:sp>
      <p:sp>
        <p:nvSpPr>
          <p:cNvPr id="17" name="Text 14"/>
          <p:cNvSpPr/>
          <p:nvPr/>
        </p:nvSpPr>
        <p:spPr>
          <a:xfrm>
            <a:off x="9761101" y="6274356"/>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FFFFFF"/>
                </a:solidFill>
                <a:latin typeface="Unbounded Bold" pitchFamily="34" charset="0"/>
                <a:ea typeface="Unbounded Bold" pitchFamily="34" charset="-122"/>
                <a:cs typeface="Unbounded Bold" pitchFamily="34" charset="-120"/>
              </a:rPr>
              <a:t>Data Layer</a:t>
            </a:r>
            <a:endParaRPr lang="en-US" sz="1550" dirty="0"/>
          </a:p>
        </p:txBody>
      </p:sp>
      <p:sp>
        <p:nvSpPr>
          <p:cNvPr id="18" name="Text 15"/>
          <p:cNvSpPr/>
          <p:nvPr/>
        </p:nvSpPr>
        <p:spPr>
          <a:xfrm>
            <a:off x="9761101" y="6617613"/>
            <a:ext cx="3909060" cy="508159"/>
          </a:xfrm>
          <a:prstGeom prst="rect">
            <a:avLst/>
          </a:prstGeom>
          <a:noFill/>
          <a:ln/>
        </p:spPr>
        <p:txBody>
          <a:bodyPr wrap="square" lIns="0" tIns="0" rIns="0" bIns="0" rtlCol="0" anchor="t"/>
          <a:lstStyle/>
          <a:p>
            <a:pPr algn="l" indent="0" marL="0">
              <a:lnSpc>
                <a:spcPts val="2000"/>
              </a:lnSpc>
              <a:buNone/>
            </a:pPr>
            <a:r>
              <a:rPr lang="en-US" sz="1250" dirty="0">
                <a:solidFill>
                  <a:srgbClr val="FFFFFF"/>
                </a:solidFill>
                <a:latin typeface="Open Sans" pitchFamily="34" charset="0"/>
                <a:ea typeface="Open Sans" pitchFamily="34" charset="-122"/>
                <a:cs typeface="Open Sans" pitchFamily="34" charset="-120"/>
              </a:rPr>
              <a:t>Robust MySQL database storing user credentials, employee profiles, and all persistent data.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91089"/>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Core Architectural Pattern: Two-Stage Recognition</a:t>
            </a:r>
            <a:endParaRPr lang="en-US" sz="4450" dirty="0"/>
          </a:p>
        </p:txBody>
      </p:sp>
      <p:sp>
        <p:nvSpPr>
          <p:cNvPr id="3" name="Text 1"/>
          <p:cNvSpPr/>
          <p:nvPr/>
        </p:nvSpPr>
        <p:spPr>
          <a:xfrm>
            <a:off x="793790" y="2962275"/>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The system separates heavy AI processing from the user experience to ensure speed and responsiveness.</a:t>
            </a:r>
            <a:endParaRPr lang="en-US" sz="1750" dirty="0"/>
          </a:p>
        </p:txBody>
      </p:sp>
      <p:pic>
        <p:nvPicPr>
          <p:cNvPr id="4" name="Image 0" descr="preencoded.png">    </p:cNvPr>
          <p:cNvPicPr>
            <a:picLocks noChangeAspect="1"/>
          </p:cNvPicPr>
          <p:nvPr/>
        </p:nvPicPr>
        <p:blipFill>
          <a:blip r:embed="rId1"/>
          <a:stretch>
            <a:fillRect/>
          </a:stretch>
        </p:blipFill>
        <p:spPr>
          <a:xfrm>
            <a:off x="793790" y="3580328"/>
            <a:ext cx="6521410" cy="907256"/>
          </a:xfrm>
          <a:prstGeom prst="rect">
            <a:avLst/>
          </a:prstGeom>
        </p:spPr>
      </p:pic>
      <p:sp>
        <p:nvSpPr>
          <p:cNvPr id="5" name="Text 2"/>
          <p:cNvSpPr/>
          <p:nvPr/>
        </p:nvSpPr>
        <p:spPr>
          <a:xfrm>
            <a:off x="1020604" y="4714399"/>
            <a:ext cx="5899547"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Stage 1: Offline Batch Processing</a:t>
            </a:r>
            <a:endParaRPr lang="en-US" sz="2200" dirty="0"/>
          </a:p>
        </p:txBody>
      </p:sp>
      <p:sp>
        <p:nvSpPr>
          <p:cNvPr id="6" name="Text 3"/>
          <p:cNvSpPr/>
          <p:nvPr/>
        </p:nvSpPr>
        <p:spPr>
          <a:xfrm>
            <a:off x="1020604" y="5204817"/>
            <a:ext cx="6067782"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Heavy computational work (face encoding, database pre-population) runs independently using Python multiprocessing.</a:t>
            </a:r>
            <a:endParaRPr lang="en-US" sz="1750" dirty="0"/>
          </a:p>
        </p:txBody>
      </p:sp>
      <p:pic>
        <p:nvPicPr>
          <p:cNvPr id="7" name="Image 1" descr="preencoded.png">    </p:cNvPr>
          <p:cNvPicPr>
            <a:picLocks noChangeAspect="1"/>
          </p:cNvPicPr>
          <p:nvPr/>
        </p:nvPicPr>
        <p:blipFill>
          <a:blip r:embed="rId2"/>
          <a:stretch>
            <a:fillRect/>
          </a:stretch>
        </p:blipFill>
        <p:spPr>
          <a:xfrm>
            <a:off x="7315200" y="3580328"/>
            <a:ext cx="6521410" cy="907256"/>
          </a:xfrm>
          <a:prstGeom prst="rect">
            <a:avLst/>
          </a:prstGeom>
        </p:spPr>
      </p:pic>
      <p:sp>
        <p:nvSpPr>
          <p:cNvPr id="8" name="Text 4"/>
          <p:cNvSpPr/>
          <p:nvPr/>
        </p:nvSpPr>
        <p:spPr>
          <a:xfrm>
            <a:off x="7542014" y="4714399"/>
            <a:ext cx="5619036"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Stage 2: Online Matching Portal</a:t>
            </a:r>
            <a:endParaRPr lang="en-US" sz="2200" dirty="0"/>
          </a:p>
        </p:txBody>
      </p:sp>
      <p:sp>
        <p:nvSpPr>
          <p:cNvPr id="9" name="Text 5"/>
          <p:cNvSpPr/>
          <p:nvPr/>
        </p:nvSpPr>
        <p:spPr>
          <a:xfrm>
            <a:off x="7542014" y="5204817"/>
            <a:ext cx="6067782"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Lightweight, real-time matching and display when a user is actively using the portal (Just-in-Time Matching).</a:t>
            </a:r>
            <a:endParaRPr lang="en-US" sz="1750" dirty="0"/>
          </a:p>
        </p:txBody>
      </p:sp>
      <p:sp>
        <p:nvSpPr>
          <p:cNvPr id="10" name="Text 6"/>
          <p:cNvSpPr/>
          <p:nvPr/>
        </p:nvSpPr>
        <p:spPr>
          <a:xfrm>
            <a:off x="793790" y="677549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This design intelligently decouples the time-consuming AI processing from the interactive user session.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574959"/>
            <a:ext cx="7759065"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Key Technology Stack</a:t>
            </a:r>
            <a:endParaRPr lang="en-US" sz="4450" dirty="0"/>
          </a:p>
        </p:txBody>
      </p:sp>
      <p:sp>
        <p:nvSpPr>
          <p:cNvPr id="3" name="Shape 1"/>
          <p:cNvSpPr/>
          <p:nvPr/>
        </p:nvSpPr>
        <p:spPr>
          <a:xfrm>
            <a:off x="793790" y="2737366"/>
            <a:ext cx="13042821" cy="3917156"/>
          </a:xfrm>
          <a:prstGeom prst="roundRect">
            <a:avLst>
              <a:gd name="adj" fmla="val 2432"/>
            </a:avLst>
          </a:prstGeom>
          <a:noFill/>
          <a:ln w="7620">
            <a:solidFill>
              <a:srgbClr val="000000">
                <a:alpha val="8000"/>
              </a:srgbClr>
            </a:solidFill>
            <a:prstDash val="solid"/>
          </a:ln>
        </p:spPr>
      </p:sp>
      <p:sp>
        <p:nvSpPr>
          <p:cNvPr id="4" name="Shape 2"/>
          <p:cNvSpPr/>
          <p:nvPr/>
        </p:nvSpPr>
        <p:spPr>
          <a:xfrm>
            <a:off x="801410" y="2744986"/>
            <a:ext cx="13027581" cy="650319"/>
          </a:xfrm>
          <a:prstGeom prst="rect">
            <a:avLst/>
          </a:prstGeom>
          <a:solidFill>
            <a:srgbClr val="FFFFFF">
              <a:alpha val="4000"/>
            </a:srgbClr>
          </a:solidFill>
          <a:ln/>
        </p:spPr>
      </p:sp>
      <p:sp>
        <p:nvSpPr>
          <p:cNvPr id="5" name="Text 3"/>
          <p:cNvSpPr/>
          <p:nvPr/>
        </p:nvSpPr>
        <p:spPr>
          <a:xfrm>
            <a:off x="1028343" y="2888694"/>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Backend Language</a:t>
            </a:r>
            <a:endParaRPr lang="en-US" sz="1750" dirty="0"/>
          </a:p>
        </p:txBody>
      </p:sp>
      <p:sp>
        <p:nvSpPr>
          <p:cNvPr id="6" name="Text 4"/>
          <p:cNvSpPr/>
          <p:nvPr/>
        </p:nvSpPr>
        <p:spPr>
          <a:xfrm>
            <a:off x="4940379" y="2888694"/>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Python 3.10+</a:t>
            </a:r>
            <a:endParaRPr lang="en-US" sz="1750" dirty="0"/>
          </a:p>
        </p:txBody>
      </p:sp>
      <p:sp>
        <p:nvSpPr>
          <p:cNvPr id="7" name="Shape 5"/>
          <p:cNvSpPr/>
          <p:nvPr/>
        </p:nvSpPr>
        <p:spPr>
          <a:xfrm>
            <a:off x="801410" y="3395305"/>
            <a:ext cx="13027581" cy="650319"/>
          </a:xfrm>
          <a:prstGeom prst="rect">
            <a:avLst/>
          </a:prstGeom>
          <a:solidFill>
            <a:srgbClr val="000000">
              <a:alpha val="4000"/>
            </a:srgbClr>
          </a:solidFill>
          <a:ln/>
        </p:spPr>
      </p:sp>
      <p:sp>
        <p:nvSpPr>
          <p:cNvPr id="8" name="Text 6"/>
          <p:cNvSpPr/>
          <p:nvPr/>
        </p:nvSpPr>
        <p:spPr>
          <a:xfrm>
            <a:off x="1028343" y="3539014"/>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Web Framework</a:t>
            </a:r>
            <a:endParaRPr lang="en-US" sz="1750" dirty="0"/>
          </a:p>
        </p:txBody>
      </p:sp>
      <p:sp>
        <p:nvSpPr>
          <p:cNvPr id="9" name="Text 7"/>
          <p:cNvSpPr/>
          <p:nvPr/>
        </p:nvSpPr>
        <p:spPr>
          <a:xfrm>
            <a:off x="4940379" y="3539014"/>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Flask (Lightweight and modular)</a:t>
            </a:r>
            <a:endParaRPr lang="en-US" sz="1750" dirty="0"/>
          </a:p>
        </p:txBody>
      </p:sp>
      <p:sp>
        <p:nvSpPr>
          <p:cNvPr id="10" name="Shape 8"/>
          <p:cNvSpPr/>
          <p:nvPr/>
        </p:nvSpPr>
        <p:spPr>
          <a:xfrm>
            <a:off x="801410" y="4045625"/>
            <a:ext cx="13027581" cy="650319"/>
          </a:xfrm>
          <a:prstGeom prst="rect">
            <a:avLst/>
          </a:prstGeom>
          <a:solidFill>
            <a:srgbClr val="FFFFFF">
              <a:alpha val="4000"/>
            </a:srgbClr>
          </a:solidFill>
          <a:ln/>
        </p:spPr>
      </p:sp>
      <p:sp>
        <p:nvSpPr>
          <p:cNvPr id="11" name="Text 9"/>
          <p:cNvSpPr/>
          <p:nvPr/>
        </p:nvSpPr>
        <p:spPr>
          <a:xfrm>
            <a:off x="1028343" y="4189333"/>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Database</a:t>
            </a:r>
            <a:endParaRPr lang="en-US" sz="1750" dirty="0"/>
          </a:p>
        </p:txBody>
      </p:sp>
      <p:sp>
        <p:nvSpPr>
          <p:cNvPr id="12" name="Text 10"/>
          <p:cNvSpPr/>
          <p:nvPr/>
        </p:nvSpPr>
        <p:spPr>
          <a:xfrm>
            <a:off x="4940379" y="4189333"/>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MySQL (Robust RDBMS for scalability)</a:t>
            </a:r>
            <a:endParaRPr lang="en-US" sz="1750" dirty="0"/>
          </a:p>
        </p:txBody>
      </p:sp>
      <p:sp>
        <p:nvSpPr>
          <p:cNvPr id="13" name="Shape 11"/>
          <p:cNvSpPr/>
          <p:nvPr/>
        </p:nvSpPr>
        <p:spPr>
          <a:xfrm>
            <a:off x="801410" y="4695944"/>
            <a:ext cx="13027581" cy="650319"/>
          </a:xfrm>
          <a:prstGeom prst="rect">
            <a:avLst/>
          </a:prstGeom>
          <a:solidFill>
            <a:srgbClr val="000000">
              <a:alpha val="4000"/>
            </a:srgbClr>
          </a:solidFill>
          <a:ln/>
        </p:spPr>
      </p:sp>
      <p:sp>
        <p:nvSpPr>
          <p:cNvPr id="14" name="Text 12"/>
          <p:cNvSpPr/>
          <p:nvPr/>
        </p:nvSpPr>
        <p:spPr>
          <a:xfrm>
            <a:off x="1028343" y="4839653"/>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Face Recognition</a:t>
            </a:r>
            <a:endParaRPr lang="en-US" sz="1750" dirty="0"/>
          </a:p>
        </p:txBody>
      </p:sp>
      <p:sp>
        <p:nvSpPr>
          <p:cNvPr id="15" name="Text 13"/>
          <p:cNvSpPr/>
          <p:nvPr/>
        </p:nvSpPr>
        <p:spPr>
          <a:xfrm>
            <a:off x="4940379" y="4839653"/>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DeepFace (ArcFace model for superior accuracy)</a:t>
            </a:r>
            <a:endParaRPr lang="en-US" sz="1750" dirty="0"/>
          </a:p>
        </p:txBody>
      </p:sp>
      <p:sp>
        <p:nvSpPr>
          <p:cNvPr id="16" name="Shape 14"/>
          <p:cNvSpPr/>
          <p:nvPr/>
        </p:nvSpPr>
        <p:spPr>
          <a:xfrm>
            <a:off x="801410" y="5346263"/>
            <a:ext cx="13027581" cy="650319"/>
          </a:xfrm>
          <a:prstGeom prst="rect">
            <a:avLst/>
          </a:prstGeom>
          <a:solidFill>
            <a:srgbClr val="FFFFFF">
              <a:alpha val="4000"/>
            </a:srgbClr>
          </a:solidFill>
          <a:ln/>
        </p:spPr>
      </p:sp>
      <p:sp>
        <p:nvSpPr>
          <p:cNvPr id="17" name="Text 15"/>
          <p:cNvSpPr/>
          <p:nvPr/>
        </p:nvSpPr>
        <p:spPr>
          <a:xfrm>
            <a:off x="1028343" y="5489972"/>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Parallel Processing</a:t>
            </a:r>
            <a:endParaRPr lang="en-US" sz="1750" dirty="0"/>
          </a:p>
        </p:txBody>
      </p:sp>
      <p:sp>
        <p:nvSpPr>
          <p:cNvPr id="18" name="Text 16"/>
          <p:cNvSpPr/>
          <p:nvPr/>
        </p:nvSpPr>
        <p:spPr>
          <a:xfrm>
            <a:off x="4940379" y="5489972"/>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Python multiprocessing (For faster image encoding)</a:t>
            </a:r>
            <a:endParaRPr lang="en-US" sz="1750" dirty="0"/>
          </a:p>
        </p:txBody>
      </p:sp>
      <p:sp>
        <p:nvSpPr>
          <p:cNvPr id="19" name="Shape 17"/>
          <p:cNvSpPr/>
          <p:nvPr/>
        </p:nvSpPr>
        <p:spPr>
          <a:xfrm>
            <a:off x="801410" y="5996583"/>
            <a:ext cx="13027581" cy="650319"/>
          </a:xfrm>
          <a:prstGeom prst="rect">
            <a:avLst/>
          </a:prstGeom>
          <a:solidFill>
            <a:srgbClr val="000000">
              <a:alpha val="4000"/>
            </a:srgbClr>
          </a:solidFill>
          <a:ln/>
        </p:spPr>
      </p:sp>
      <p:sp>
        <p:nvSpPr>
          <p:cNvPr id="20" name="Text 18"/>
          <p:cNvSpPr/>
          <p:nvPr/>
        </p:nvSpPr>
        <p:spPr>
          <a:xfrm>
            <a:off x="1028343" y="6140291"/>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Frontend UI</a:t>
            </a:r>
            <a:endParaRPr lang="en-US" sz="1750" dirty="0"/>
          </a:p>
        </p:txBody>
      </p:sp>
      <p:sp>
        <p:nvSpPr>
          <p:cNvPr id="21" name="Text 19"/>
          <p:cNvSpPr/>
          <p:nvPr/>
        </p:nvSpPr>
        <p:spPr>
          <a:xfrm>
            <a:off x="4940379" y="6140291"/>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HTML, CSS, Bootstrap (Responsive and user-friendly)</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63134"/>
            <a:ext cx="9469636"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Implementation Highlights</a:t>
            </a:r>
            <a:endParaRPr lang="en-US" sz="4450" dirty="0"/>
          </a:p>
        </p:txBody>
      </p:sp>
      <p:sp>
        <p:nvSpPr>
          <p:cNvPr id="3" name="Shape 1"/>
          <p:cNvSpPr/>
          <p:nvPr/>
        </p:nvSpPr>
        <p:spPr>
          <a:xfrm>
            <a:off x="793790" y="2765703"/>
            <a:ext cx="4196358" cy="4200763"/>
          </a:xfrm>
          <a:prstGeom prst="roundRect">
            <a:avLst>
              <a:gd name="adj" fmla="val 3486"/>
            </a:avLst>
          </a:prstGeom>
          <a:solidFill>
            <a:srgbClr val="FFFFFF"/>
          </a:solidFill>
          <a:ln/>
        </p:spPr>
      </p:sp>
      <p:sp>
        <p:nvSpPr>
          <p:cNvPr id="4" name="Shape 2"/>
          <p:cNvSpPr/>
          <p:nvPr/>
        </p:nvSpPr>
        <p:spPr>
          <a:xfrm>
            <a:off x="793790" y="2735223"/>
            <a:ext cx="4196358" cy="121920"/>
          </a:xfrm>
          <a:prstGeom prst="roundRect">
            <a:avLst>
              <a:gd name="adj" fmla="val 78139"/>
            </a:avLst>
          </a:prstGeom>
          <a:solidFill>
            <a:srgbClr val="26A688"/>
          </a:solidFill>
          <a:ln/>
        </p:spPr>
      </p:sp>
      <p:sp>
        <p:nvSpPr>
          <p:cNvPr id="5" name="Shape 3"/>
          <p:cNvSpPr/>
          <p:nvPr/>
        </p:nvSpPr>
        <p:spPr>
          <a:xfrm>
            <a:off x="2551688" y="2425541"/>
            <a:ext cx="680442" cy="680442"/>
          </a:xfrm>
          <a:prstGeom prst="roundRect">
            <a:avLst>
              <a:gd name="adj" fmla="val 134383"/>
            </a:avLst>
          </a:prstGeom>
          <a:solidFill>
            <a:srgbClr val="26A688"/>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55761" y="2629614"/>
            <a:ext cx="272177" cy="272177"/>
          </a:xfrm>
          <a:prstGeom prst="rect">
            <a:avLst/>
          </a:prstGeom>
        </p:spPr>
      </p:pic>
      <p:sp>
        <p:nvSpPr>
          <p:cNvPr id="7" name="Text 4"/>
          <p:cNvSpPr/>
          <p:nvPr/>
        </p:nvSpPr>
        <p:spPr>
          <a:xfrm>
            <a:off x="1051084" y="3332678"/>
            <a:ext cx="3681770" cy="70866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Optimized Database Schema</a:t>
            </a:r>
            <a:endParaRPr lang="en-US" sz="2200" dirty="0"/>
          </a:p>
        </p:txBody>
      </p:sp>
      <p:sp>
        <p:nvSpPr>
          <p:cNvPr id="8" name="Text 5"/>
          <p:cNvSpPr/>
          <p:nvPr/>
        </p:nvSpPr>
        <p:spPr>
          <a:xfrm>
            <a:off x="1051084" y="4177427"/>
            <a:ext cx="3681770" cy="1814513"/>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The </a:t>
            </a:r>
            <a:pPr algn="l" indent="0" marL="0">
              <a:lnSpc>
                <a:spcPts val="2850"/>
              </a:lnSpc>
              <a:buNone/>
            </a:pPr>
            <a:r>
              <a:rPr lang="en-US" sz="1750" dirty="0">
                <a:solidFill>
                  <a:srgbClr val="333F70"/>
                </a:solidFill>
                <a:highlight>
                  <a:srgbClr val="F2F2F2"/>
                </a:highlight>
                <a:latin typeface="Consolas" pitchFamily="34" charset="0"/>
                <a:ea typeface="Consolas" pitchFamily="34" charset="-122"/>
                <a:cs typeface="Consolas" pitchFamily="34" charset="-120"/>
              </a:rPr>
              <a:t>matched_photos</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table supports the two-stage workflow by initially storing "unclaimed" faces (NULL employee ID), acting as an efficient processing queue.</a:t>
            </a:r>
            <a:endParaRPr lang="en-US" sz="1750" dirty="0"/>
          </a:p>
        </p:txBody>
      </p:sp>
      <p:sp>
        <p:nvSpPr>
          <p:cNvPr id="9" name="Shape 6"/>
          <p:cNvSpPr/>
          <p:nvPr/>
        </p:nvSpPr>
        <p:spPr>
          <a:xfrm>
            <a:off x="5216962" y="2765703"/>
            <a:ext cx="4196358" cy="4200763"/>
          </a:xfrm>
          <a:prstGeom prst="roundRect">
            <a:avLst>
              <a:gd name="adj" fmla="val 3486"/>
            </a:avLst>
          </a:prstGeom>
          <a:solidFill>
            <a:srgbClr val="FFFFFF"/>
          </a:solidFill>
          <a:ln/>
        </p:spPr>
      </p:sp>
      <p:sp>
        <p:nvSpPr>
          <p:cNvPr id="10" name="Shape 7"/>
          <p:cNvSpPr/>
          <p:nvPr/>
        </p:nvSpPr>
        <p:spPr>
          <a:xfrm>
            <a:off x="5216962" y="2735223"/>
            <a:ext cx="4196358" cy="121920"/>
          </a:xfrm>
          <a:prstGeom prst="roundRect">
            <a:avLst>
              <a:gd name="adj" fmla="val 78139"/>
            </a:avLst>
          </a:prstGeom>
          <a:solidFill>
            <a:srgbClr val="26A688"/>
          </a:solidFill>
          <a:ln/>
        </p:spPr>
      </p:sp>
      <p:sp>
        <p:nvSpPr>
          <p:cNvPr id="11" name="Shape 8"/>
          <p:cNvSpPr/>
          <p:nvPr/>
        </p:nvSpPr>
        <p:spPr>
          <a:xfrm>
            <a:off x="6974860" y="2425541"/>
            <a:ext cx="680442" cy="680442"/>
          </a:xfrm>
          <a:prstGeom prst="roundRect">
            <a:avLst>
              <a:gd name="adj" fmla="val 134383"/>
            </a:avLst>
          </a:prstGeom>
          <a:solidFill>
            <a:srgbClr val="26A688"/>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8933" y="2629614"/>
            <a:ext cx="272177" cy="272177"/>
          </a:xfrm>
          <a:prstGeom prst="rect">
            <a:avLst/>
          </a:prstGeom>
        </p:spPr>
      </p:pic>
      <p:sp>
        <p:nvSpPr>
          <p:cNvPr id="13" name="Text 9"/>
          <p:cNvSpPr/>
          <p:nvPr/>
        </p:nvSpPr>
        <p:spPr>
          <a:xfrm>
            <a:off x="5474256" y="3332678"/>
            <a:ext cx="3681770" cy="106299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Robust Master Employee Embedding</a:t>
            </a:r>
            <a:endParaRPr lang="en-US" sz="2200" dirty="0"/>
          </a:p>
        </p:txBody>
      </p:sp>
      <p:sp>
        <p:nvSpPr>
          <p:cNvPr id="14" name="Text 10"/>
          <p:cNvSpPr/>
          <p:nvPr/>
        </p:nvSpPr>
        <p:spPr>
          <a:xfrm>
            <a:off x="5474256" y="4531757"/>
            <a:ext cx="3681770" cy="217741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Instead of a single reference photo, the system calculates the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mean average of multiple embeddings</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to create a generalized, resilient facial signature.</a:t>
            </a:r>
            <a:endParaRPr lang="en-US" sz="1750" dirty="0"/>
          </a:p>
        </p:txBody>
      </p:sp>
      <p:sp>
        <p:nvSpPr>
          <p:cNvPr id="15" name="Shape 11"/>
          <p:cNvSpPr/>
          <p:nvPr/>
        </p:nvSpPr>
        <p:spPr>
          <a:xfrm>
            <a:off x="9640133" y="2765703"/>
            <a:ext cx="4196358" cy="4200763"/>
          </a:xfrm>
          <a:prstGeom prst="roundRect">
            <a:avLst>
              <a:gd name="adj" fmla="val 3486"/>
            </a:avLst>
          </a:prstGeom>
          <a:solidFill>
            <a:srgbClr val="FFFFFF"/>
          </a:solidFill>
          <a:ln/>
        </p:spPr>
      </p:sp>
      <p:sp>
        <p:nvSpPr>
          <p:cNvPr id="16" name="Shape 12"/>
          <p:cNvSpPr/>
          <p:nvPr/>
        </p:nvSpPr>
        <p:spPr>
          <a:xfrm>
            <a:off x="9640133" y="2735223"/>
            <a:ext cx="4196358" cy="121920"/>
          </a:xfrm>
          <a:prstGeom prst="roundRect">
            <a:avLst>
              <a:gd name="adj" fmla="val 78139"/>
            </a:avLst>
          </a:prstGeom>
          <a:solidFill>
            <a:srgbClr val="26A688"/>
          </a:solidFill>
          <a:ln/>
        </p:spPr>
      </p:sp>
      <p:sp>
        <p:nvSpPr>
          <p:cNvPr id="17" name="Shape 13"/>
          <p:cNvSpPr/>
          <p:nvPr/>
        </p:nvSpPr>
        <p:spPr>
          <a:xfrm>
            <a:off x="11398032" y="2425541"/>
            <a:ext cx="680442" cy="680442"/>
          </a:xfrm>
          <a:prstGeom prst="roundRect">
            <a:avLst>
              <a:gd name="adj" fmla="val 134383"/>
            </a:avLst>
          </a:prstGeom>
          <a:solidFill>
            <a:srgbClr val="26A688"/>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02105" y="2629614"/>
            <a:ext cx="272177" cy="272177"/>
          </a:xfrm>
          <a:prstGeom prst="rect">
            <a:avLst/>
          </a:prstGeom>
        </p:spPr>
      </p:pic>
      <p:sp>
        <p:nvSpPr>
          <p:cNvPr id="19" name="Text 14"/>
          <p:cNvSpPr/>
          <p:nvPr/>
        </p:nvSpPr>
        <p:spPr>
          <a:xfrm>
            <a:off x="9897427" y="3332678"/>
            <a:ext cx="3681770" cy="70866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User-Centric API Endpoints</a:t>
            </a:r>
            <a:endParaRPr lang="en-US" sz="2200" dirty="0"/>
          </a:p>
        </p:txBody>
      </p:sp>
      <p:sp>
        <p:nvSpPr>
          <p:cNvPr id="20" name="Text 15"/>
          <p:cNvSpPr/>
          <p:nvPr/>
        </p:nvSpPr>
        <p:spPr>
          <a:xfrm>
            <a:off x="9897427" y="4177427"/>
            <a:ext cx="3681770" cy="1451610"/>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Dedicated routes for dynamic ZIP file downloads of matched photos and CSV report generation provide significant user convenience.</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198358" y="721638"/>
            <a:ext cx="5089565" cy="6786205"/>
          </a:xfrm>
          <a:prstGeom prst="rect">
            <a:avLst/>
          </a:prstGeom>
        </p:spPr>
      </p:pic>
      <p:sp>
        <p:nvSpPr>
          <p:cNvPr id="4" name="Text 0"/>
          <p:cNvSpPr/>
          <p:nvPr/>
        </p:nvSpPr>
        <p:spPr>
          <a:xfrm>
            <a:off x="6280190" y="947380"/>
            <a:ext cx="7556421" cy="992267"/>
          </a:xfrm>
          <a:prstGeom prst="rect">
            <a:avLst/>
          </a:prstGeom>
          <a:noFill/>
          <a:ln/>
        </p:spPr>
        <p:txBody>
          <a:bodyPr wrap="square" lIns="0" tIns="0" rIns="0" bIns="0" rtlCol="0" anchor="t"/>
          <a:lstStyle/>
          <a:p>
            <a:pPr algn="l" indent="0" marL="0">
              <a:lnSpc>
                <a:spcPts val="3900"/>
              </a:lnSpc>
              <a:buNone/>
            </a:pPr>
            <a:r>
              <a:rPr lang="en-US" sz="3100" b="1" dirty="0">
                <a:solidFill>
                  <a:srgbClr val="333F70"/>
                </a:solidFill>
                <a:latin typeface="Unbounded Bold" pitchFamily="34" charset="0"/>
                <a:ea typeface="Unbounded Bold" pitchFamily="34" charset="-122"/>
                <a:cs typeface="Unbounded Bold" pitchFamily="34" charset="-120"/>
              </a:rPr>
              <a:t>Quantifiable Results and Efficiency Gains</a:t>
            </a:r>
            <a:endParaRPr lang="en-US" sz="3100" dirty="0"/>
          </a:p>
        </p:txBody>
      </p:sp>
      <p:sp>
        <p:nvSpPr>
          <p:cNvPr id="5" name="Text 1"/>
          <p:cNvSpPr/>
          <p:nvPr/>
        </p:nvSpPr>
        <p:spPr>
          <a:xfrm>
            <a:off x="6280190" y="2177772"/>
            <a:ext cx="7556421" cy="254079"/>
          </a:xfrm>
          <a:prstGeom prst="rect">
            <a:avLst/>
          </a:prstGeom>
          <a:noFill/>
          <a:ln/>
        </p:spPr>
        <p:txBody>
          <a:bodyPr wrap="none" lIns="0" tIns="0" rIns="0" bIns="0" rtlCol="0" anchor="t"/>
          <a:lstStyle/>
          <a:p>
            <a:pPr algn="l" indent="0" marL="0">
              <a:lnSpc>
                <a:spcPts val="2000"/>
              </a:lnSpc>
              <a:buNone/>
            </a:pPr>
            <a:r>
              <a:rPr lang="en-US" sz="1250" dirty="0">
                <a:solidFill>
                  <a:srgbClr val="333F70"/>
                </a:solidFill>
                <a:latin typeface="Open Sans" pitchFamily="34" charset="0"/>
                <a:ea typeface="Open Sans" pitchFamily="34" charset="-122"/>
                <a:cs typeface="Open Sans" pitchFamily="34" charset="-120"/>
              </a:rPr>
              <a:t>The portal delivered significant, measurable results, transforming the photo management workflow.</a:t>
            </a:r>
            <a:endParaRPr lang="en-US" sz="1250" dirty="0"/>
          </a:p>
        </p:txBody>
      </p:sp>
      <p:sp>
        <p:nvSpPr>
          <p:cNvPr id="6" name="Text 2"/>
          <p:cNvSpPr/>
          <p:nvPr/>
        </p:nvSpPr>
        <p:spPr>
          <a:xfrm>
            <a:off x="7777877" y="2997398"/>
            <a:ext cx="683419" cy="138827"/>
          </a:xfrm>
          <a:prstGeom prst="rect">
            <a:avLst/>
          </a:prstGeom>
          <a:noFill/>
          <a:ln/>
        </p:spPr>
        <p:txBody>
          <a:bodyPr wrap="none" lIns="0" tIns="0" rIns="0" bIns="0" rtlCol="0" anchor="t"/>
          <a:lstStyle/>
          <a:p>
            <a:pPr algn="ctr" indent="0" marL="0">
              <a:lnSpc>
                <a:spcPts val="1050"/>
              </a:lnSpc>
              <a:buNone/>
            </a:pPr>
            <a:r>
              <a:rPr lang="en-US" sz="1050" b="1" dirty="0">
                <a:solidFill>
                  <a:srgbClr val="333F70"/>
                </a:solidFill>
                <a:latin typeface="Unbounded Bold" pitchFamily="34" charset="0"/>
                <a:ea typeface="Unbounded Bold" pitchFamily="34" charset="-122"/>
                <a:cs typeface="Unbounded Bold" pitchFamily="34" charset="-120"/>
              </a:rPr>
              <a:t>~99.8%</a:t>
            </a:r>
            <a:endParaRPr lang="en-US" sz="1050" dirty="0"/>
          </a:p>
        </p:txBody>
      </p:sp>
      <p:pic>
        <p:nvPicPr>
          <p:cNvPr id="7" name="Image 2" descr="preencoded.png">    </p:cNvPr>
          <p:cNvPicPr>
            <a:picLocks noChangeAspect="1"/>
          </p:cNvPicPr>
          <p:nvPr/>
        </p:nvPicPr>
        <p:blipFill>
          <a:blip r:embed="rId3"/>
          <a:stretch>
            <a:fillRect/>
          </a:stretch>
        </p:blipFill>
        <p:spPr>
          <a:xfrm>
            <a:off x="7702868" y="2650093"/>
            <a:ext cx="833557" cy="833557"/>
          </a:xfrm>
          <a:prstGeom prst="rect">
            <a:avLst/>
          </a:prstGeom>
        </p:spPr>
      </p:pic>
      <p:sp>
        <p:nvSpPr>
          <p:cNvPr id="8" name="Text 3"/>
          <p:cNvSpPr/>
          <p:nvPr/>
        </p:nvSpPr>
        <p:spPr>
          <a:xfrm>
            <a:off x="6688455" y="3682008"/>
            <a:ext cx="2862382" cy="248007"/>
          </a:xfrm>
          <a:prstGeom prst="rect">
            <a:avLst/>
          </a:prstGeom>
          <a:noFill/>
          <a:ln/>
        </p:spPr>
        <p:txBody>
          <a:bodyPr wrap="none" lIns="0" tIns="0" rIns="0" bIns="0" rtlCol="0" anchor="t"/>
          <a:lstStyle/>
          <a:p>
            <a:pPr algn="ctr" indent="0" marL="0">
              <a:lnSpc>
                <a:spcPts val="1950"/>
              </a:lnSpc>
              <a:buNone/>
            </a:pPr>
            <a:r>
              <a:rPr lang="en-US" sz="1550" b="1" dirty="0">
                <a:solidFill>
                  <a:srgbClr val="333F70"/>
                </a:solidFill>
                <a:latin typeface="Unbounded Bold" pitchFamily="34" charset="0"/>
                <a:ea typeface="Unbounded Bold" pitchFamily="34" charset="-122"/>
                <a:cs typeface="Unbounded Bold" pitchFamily="34" charset="-120"/>
              </a:rPr>
              <a:t>Search Time Reduction</a:t>
            </a:r>
            <a:endParaRPr lang="en-US" sz="1550" dirty="0"/>
          </a:p>
        </p:txBody>
      </p:sp>
      <p:sp>
        <p:nvSpPr>
          <p:cNvPr id="9" name="Text 4"/>
          <p:cNvSpPr/>
          <p:nvPr/>
        </p:nvSpPr>
        <p:spPr>
          <a:xfrm>
            <a:off x="6280190" y="4025265"/>
            <a:ext cx="3679031" cy="762238"/>
          </a:xfrm>
          <a:prstGeom prst="rect">
            <a:avLst/>
          </a:prstGeom>
          <a:noFill/>
          <a:ln/>
        </p:spPr>
        <p:txBody>
          <a:bodyPr wrap="square" lIns="0" tIns="0" rIns="0" bIns="0" rtlCol="0" anchor="t"/>
          <a:lstStyle/>
          <a:p>
            <a:pPr algn="ctr" indent="0" marL="0">
              <a:lnSpc>
                <a:spcPts val="2000"/>
              </a:lnSpc>
              <a:buNone/>
            </a:pPr>
            <a:r>
              <a:rPr lang="en-US" sz="1250" dirty="0">
                <a:solidFill>
                  <a:srgbClr val="333F70"/>
                </a:solidFill>
                <a:latin typeface="Open Sans" pitchFamily="34" charset="0"/>
                <a:ea typeface="Open Sans" pitchFamily="34" charset="-122"/>
                <a:cs typeface="Open Sans" pitchFamily="34" charset="-120"/>
              </a:rPr>
              <a:t>Time to find an employee's photos in a 500-photo event reduced from 15-20 minutes to less than 10 seconds.</a:t>
            </a:r>
            <a:endParaRPr lang="en-US" sz="1250" dirty="0"/>
          </a:p>
        </p:txBody>
      </p:sp>
      <p:sp>
        <p:nvSpPr>
          <p:cNvPr id="10" name="Text 5"/>
          <p:cNvSpPr/>
          <p:nvPr/>
        </p:nvSpPr>
        <p:spPr>
          <a:xfrm>
            <a:off x="11655266" y="2997398"/>
            <a:ext cx="683419" cy="138827"/>
          </a:xfrm>
          <a:prstGeom prst="rect">
            <a:avLst/>
          </a:prstGeom>
          <a:noFill/>
          <a:ln/>
        </p:spPr>
        <p:txBody>
          <a:bodyPr wrap="none" lIns="0" tIns="0" rIns="0" bIns="0" rtlCol="0" anchor="t"/>
          <a:lstStyle/>
          <a:p>
            <a:pPr algn="ctr" indent="0" marL="0">
              <a:lnSpc>
                <a:spcPts val="1050"/>
              </a:lnSpc>
              <a:buNone/>
            </a:pPr>
            <a:r>
              <a:rPr lang="en-US" sz="1050" b="1" dirty="0">
                <a:solidFill>
                  <a:srgbClr val="333F70"/>
                </a:solidFill>
                <a:latin typeface="Unbounded Bold" pitchFamily="34" charset="0"/>
                <a:ea typeface="Unbounded Bold" pitchFamily="34" charset="-122"/>
                <a:cs typeface="Unbounded Bold" pitchFamily="34" charset="-120"/>
              </a:rPr>
              <a:t>~98.4%</a:t>
            </a:r>
            <a:endParaRPr lang="en-US" sz="1050" dirty="0"/>
          </a:p>
        </p:txBody>
      </p:sp>
      <p:pic>
        <p:nvPicPr>
          <p:cNvPr id="11" name="Image 3" descr="preencoded.png">    </p:cNvPr>
          <p:cNvPicPr>
            <a:picLocks noChangeAspect="1"/>
          </p:cNvPicPr>
          <p:nvPr/>
        </p:nvPicPr>
        <p:blipFill>
          <a:blip r:embed="rId4"/>
          <a:stretch>
            <a:fillRect/>
          </a:stretch>
        </p:blipFill>
        <p:spPr>
          <a:xfrm>
            <a:off x="11580257" y="2650093"/>
            <a:ext cx="833557" cy="833557"/>
          </a:xfrm>
          <a:prstGeom prst="rect">
            <a:avLst/>
          </a:prstGeom>
        </p:spPr>
      </p:pic>
      <p:sp>
        <p:nvSpPr>
          <p:cNvPr id="12" name="Text 6"/>
          <p:cNvSpPr/>
          <p:nvPr/>
        </p:nvSpPr>
        <p:spPr>
          <a:xfrm>
            <a:off x="10310455" y="3682008"/>
            <a:ext cx="3373279" cy="248007"/>
          </a:xfrm>
          <a:prstGeom prst="rect">
            <a:avLst/>
          </a:prstGeom>
          <a:noFill/>
          <a:ln/>
        </p:spPr>
        <p:txBody>
          <a:bodyPr wrap="none" lIns="0" tIns="0" rIns="0" bIns="0" rtlCol="0" anchor="t"/>
          <a:lstStyle/>
          <a:p>
            <a:pPr algn="ctr" indent="0" marL="0">
              <a:lnSpc>
                <a:spcPts val="1950"/>
              </a:lnSpc>
              <a:buNone/>
            </a:pPr>
            <a:r>
              <a:rPr lang="en-US" sz="1550" b="1" dirty="0">
                <a:solidFill>
                  <a:srgbClr val="333F70"/>
                </a:solidFill>
                <a:latin typeface="Unbounded Bold" pitchFamily="34" charset="0"/>
                <a:ea typeface="Unbounded Bold" pitchFamily="34" charset="-122"/>
                <a:cs typeface="Unbounded Bold" pitchFamily="34" charset="-120"/>
              </a:rPr>
              <a:t>Processing Time Reduction</a:t>
            </a:r>
            <a:endParaRPr lang="en-US" sz="1550" dirty="0"/>
          </a:p>
        </p:txBody>
      </p:sp>
      <p:sp>
        <p:nvSpPr>
          <p:cNvPr id="13" name="Text 7"/>
          <p:cNvSpPr/>
          <p:nvPr/>
        </p:nvSpPr>
        <p:spPr>
          <a:xfrm>
            <a:off x="10157579" y="4025265"/>
            <a:ext cx="3679031" cy="762238"/>
          </a:xfrm>
          <a:prstGeom prst="rect">
            <a:avLst/>
          </a:prstGeom>
          <a:noFill/>
          <a:ln/>
        </p:spPr>
        <p:txBody>
          <a:bodyPr wrap="square" lIns="0" tIns="0" rIns="0" bIns="0" rtlCol="0" anchor="t"/>
          <a:lstStyle/>
          <a:p>
            <a:pPr algn="ctr" indent="0" marL="0">
              <a:lnSpc>
                <a:spcPts val="2000"/>
              </a:lnSpc>
              <a:buNone/>
            </a:pPr>
            <a:r>
              <a:rPr lang="en-US" sz="1250" dirty="0">
                <a:solidFill>
                  <a:srgbClr val="333F70"/>
                </a:solidFill>
                <a:latin typeface="Open Sans" pitchFamily="34" charset="0"/>
                <a:ea typeface="Open Sans" pitchFamily="34" charset="-122"/>
                <a:cs typeface="Open Sans" pitchFamily="34" charset="-120"/>
              </a:rPr>
              <a:t>Time to process a new 1000-photo event reduced from ~8 person-hours (manual tagging) to ~25 minutes (automated encoding).</a:t>
            </a:r>
            <a:endParaRPr lang="en-US" sz="1250" dirty="0"/>
          </a:p>
        </p:txBody>
      </p:sp>
      <p:sp>
        <p:nvSpPr>
          <p:cNvPr id="14" name="Text 8"/>
          <p:cNvSpPr/>
          <p:nvPr/>
        </p:nvSpPr>
        <p:spPr>
          <a:xfrm>
            <a:off x="9716572" y="5491996"/>
            <a:ext cx="683419" cy="138827"/>
          </a:xfrm>
          <a:prstGeom prst="rect">
            <a:avLst/>
          </a:prstGeom>
          <a:noFill/>
          <a:ln/>
        </p:spPr>
        <p:txBody>
          <a:bodyPr wrap="none" lIns="0" tIns="0" rIns="0" bIns="0" rtlCol="0" anchor="t"/>
          <a:lstStyle/>
          <a:p>
            <a:pPr algn="ctr" indent="0" marL="0">
              <a:lnSpc>
                <a:spcPts val="1050"/>
              </a:lnSpc>
              <a:buNone/>
            </a:pPr>
            <a:r>
              <a:rPr lang="en-US" sz="1050" b="1" dirty="0">
                <a:solidFill>
                  <a:srgbClr val="333F70"/>
                </a:solidFill>
                <a:latin typeface="Unbounded Bold" pitchFamily="34" charset="0"/>
                <a:ea typeface="Unbounded Bold" pitchFamily="34" charset="-122"/>
                <a:cs typeface="Unbounded Bold" pitchFamily="34" charset="-120"/>
              </a:rPr>
              <a:t>&gt;99%</a:t>
            </a:r>
            <a:endParaRPr lang="en-US" sz="1050" dirty="0"/>
          </a:p>
        </p:txBody>
      </p:sp>
      <p:pic>
        <p:nvPicPr>
          <p:cNvPr id="15" name="Image 4" descr="preencoded.png">    </p:cNvPr>
          <p:cNvPicPr>
            <a:picLocks noChangeAspect="1"/>
          </p:cNvPicPr>
          <p:nvPr/>
        </p:nvPicPr>
        <p:blipFill>
          <a:blip r:embed="rId5"/>
          <a:stretch>
            <a:fillRect/>
          </a:stretch>
        </p:blipFill>
        <p:spPr>
          <a:xfrm>
            <a:off x="9641562" y="5144691"/>
            <a:ext cx="833557" cy="833557"/>
          </a:xfrm>
          <a:prstGeom prst="rect">
            <a:avLst/>
          </a:prstGeom>
        </p:spPr>
      </p:pic>
      <p:sp>
        <p:nvSpPr>
          <p:cNvPr id="16" name="Text 9"/>
          <p:cNvSpPr/>
          <p:nvPr/>
        </p:nvSpPr>
        <p:spPr>
          <a:xfrm>
            <a:off x="8687038" y="6176605"/>
            <a:ext cx="2742724" cy="248007"/>
          </a:xfrm>
          <a:prstGeom prst="rect">
            <a:avLst/>
          </a:prstGeom>
          <a:noFill/>
          <a:ln/>
        </p:spPr>
        <p:txBody>
          <a:bodyPr wrap="none" lIns="0" tIns="0" rIns="0" bIns="0" rtlCol="0" anchor="t"/>
          <a:lstStyle/>
          <a:p>
            <a:pPr algn="ctr" indent="0" marL="0">
              <a:lnSpc>
                <a:spcPts val="1950"/>
              </a:lnSpc>
              <a:buNone/>
            </a:pPr>
            <a:r>
              <a:rPr lang="en-US" sz="1550" b="1" dirty="0">
                <a:solidFill>
                  <a:srgbClr val="333F70"/>
                </a:solidFill>
                <a:latin typeface="Unbounded Bold" pitchFamily="34" charset="0"/>
                <a:ea typeface="Unbounded Bold" pitchFamily="34" charset="-122"/>
                <a:cs typeface="Unbounded Bold" pitchFamily="34" charset="-120"/>
              </a:rPr>
              <a:t>Recognition Accuracy</a:t>
            </a:r>
            <a:endParaRPr lang="en-US" sz="1550" dirty="0"/>
          </a:p>
        </p:txBody>
      </p:sp>
      <p:sp>
        <p:nvSpPr>
          <p:cNvPr id="17" name="Text 10"/>
          <p:cNvSpPr/>
          <p:nvPr/>
        </p:nvSpPr>
        <p:spPr>
          <a:xfrm>
            <a:off x="8218884" y="6519863"/>
            <a:ext cx="3679031" cy="762238"/>
          </a:xfrm>
          <a:prstGeom prst="rect">
            <a:avLst/>
          </a:prstGeom>
          <a:noFill/>
          <a:ln/>
        </p:spPr>
        <p:txBody>
          <a:bodyPr wrap="square" lIns="0" tIns="0" rIns="0" bIns="0" rtlCol="0" anchor="t"/>
          <a:lstStyle/>
          <a:p>
            <a:pPr algn="ctr" indent="0" marL="0">
              <a:lnSpc>
                <a:spcPts val="2000"/>
              </a:lnSpc>
              <a:buNone/>
            </a:pPr>
            <a:r>
              <a:rPr lang="en-US" sz="1250" dirty="0">
                <a:solidFill>
                  <a:srgbClr val="333F70"/>
                </a:solidFill>
                <a:latin typeface="Open Sans" pitchFamily="34" charset="0"/>
                <a:ea typeface="Open Sans" pitchFamily="34" charset="-122"/>
                <a:cs typeface="Open Sans" pitchFamily="34" charset="-120"/>
              </a:rPr>
              <a:t>Achieved near-perfect precision using the state-of-the-art ArcFace model and the robust average embedding technique.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81038"/>
            <a:ext cx="9011007" cy="708779"/>
          </a:xfrm>
          <a:prstGeom prst="rect">
            <a:avLst/>
          </a:prstGeom>
          <a:noFill/>
          <a:ln/>
        </p:spPr>
        <p:txBody>
          <a:bodyPr wrap="none" lIns="0" tIns="0" rIns="0" bIns="0" rtlCol="0" anchor="t"/>
          <a:lstStyle/>
          <a:p>
            <a:pPr algn="l" indent="0" marL="0">
              <a:lnSpc>
                <a:spcPts val="5550"/>
              </a:lnSpc>
              <a:buNone/>
            </a:pPr>
            <a:r>
              <a:rPr lang="en-US" sz="4450" b="1" u="sng" dirty="0">
                <a:solidFill>
                  <a:srgbClr val="333F70"/>
                </a:solidFill>
                <a:latin typeface="Unbounded Bold" pitchFamily="34" charset="0"/>
                <a:ea typeface="Unbounded Bold" pitchFamily="34" charset="-122"/>
                <a:cs typeface="Unbounded Bold" pitchFamily="34" charset="-120"/>
              </a:rPr>
              <a:t>Challenges and Solutions</a:t>
            </a:r>
            <a:endParaRPr lang="en-US" sz="4450" dirty="0"/>
          </a:p>
        </p:txBody>
      </p:sp>
      <p:pic>
        <p:nvPicPr>
          <p:cNvPr id="3" name="Image 0" descr="preencoded.png">    </p:cNvPr>
          <p:cNvPicPr>
            <a:picLocks noChangeAspect="1"/>
          </p:cNvPicPr>
          <p:nvPr/>
        </p:nvPicPr>
        <p:blipFill>
          <a:blip r:embed="rId1"/>
          <a:stretch>
            <a:fillRect/>
          </a:stretch>
        </p:blipFill>
        <p:spPr>
          <a:xfrm>
            <a:off x="793790" y="1843445"/>
            <a:ext cx="13042821" cy="5704999"/>
          </a:xfrm>
          <a:prstGeom prst="rect">
            <a:avLst/>
          </a:prstGeom>
        </p:spPr>
      </p:pic>
      <p:sp>
        <p:nvSpPr>
          <p:cNvPr id="4" name="Text 1"/>
          <p:cNvSpPr/>
          <p:nvPr/>
        </p:nvSpPr>
        <p:spPr>
          <a:xfrm>
            <a:off x="5174105" y="4723374"/>
            <a:ext cx="1528170" cy="355204"/>
          </a:xfrm>
          <a:prstGeom prst="rect">
            <a:avLst/>
          </a:prstGeom>
          <a:noFill/>
          <a:ln/>
        </p:spPr>
        <p:txBody>
          <a:bodyPr wrap="none" lIns="0" tIns="0" rIns="0" bIns="0" rtlCol="0" anchor="t"/>
          <a:lstStyle/>
          <a:p>
            <a:pPr algn="ctr" indent="0" marL="0">
              <a:lnSpc>
                <a:spcPts val="1650"/>
              </a:lnSpc>
              <a:buNone/>
            </a:pPr>
            <a:r>
              <a:rPr lang="en-US" sz="1350" dirty="0">
                <a:solidFill>
                  <a:srgbClr val="FFFFFF"/>
                </a:solidFill>
                <a:latin typeface="Open Sans" pitchFamily="34" charset="0"/>
                <a:ea typeface="Open Sans" pitchFamily="34" charset="-122"/>
                <a:cs typeface="Open Sans" pitchFamily="34" charset="-120"/>
              </a:rPr>
              <a:t>Challenges</a:t>
            </a:r>
            <a:endParaRPr lang="en-US" sz="1350" dirty="0"/>
          </a:p>
        </p:txBody>
      </p:sp>
      <p:sp>
        <p:nvSpPr>
          <p:cNvPr id="5" name="Text 2"/>
          <p:cNvSpPr/>
          <p:nvPr/>
        </p:nvSpPr>
        <p:spPr>
          <a:xfrm>
            <a:off x="8066261" y="4723374"/>
            <a:ext cx="1528170" cy="355204"/>
          </a:xfrm>
          <a:prstGeom prst="rect">
            <a:avLst/>
          </a:prstGeom>
          <a:noFill/>
          <a:ln/>
        </p:spPr>
        <p:txBody>
          <a:bodyPr wrap="none" lIns="0" tIns="0" rIns="0" bIns="0" rtlCol="0" anchor="t"/>
          <a:lstStyle/>
          <a:p>
            <a:pPr algn="ctr" indent="0" marL="0">
              <a:lnSpc>
                <a:spcPts val="1650"/>
              </a:lnSpc>
              <a:buNone/>
            </a:pPr>
            <a:r>
              <a:rPr lang="en-US" sz="1350" dirty="0">
                <a:solidFill>
                  <a:srgbClr val="FFFFFF"/>
                </a:solidFill>
                <a:latin typeface="Open Sans" pitchFamily="34" charset="0"/>
                <a:ea typeface="Open Sans" pitchFamily="34" charset="-122"/>
                <a:cs typeface="Open Sans" pitchFamily="34" charset="-120"/>
              </a:rPr>
              <a:t>Solutions</a:t>
            </a:r>
            <a:endParaRPr lang="en-US" sz="1350" dirty="0"/>
          </a:p>
        </p:txBody>
      </p:sp>
      <p:sp>
        <p:nvSpPr>
          <p:cNvPr id="6" name="Text 3"/>
          <p:cNvSpPr/>
          <p:nvPr/>
        </p:nvSpPr>
        <p:spPr>
          <a:xfrm>
            <a:off x="10611500" y="5930478"/>
            <a:ext cx="2513271" cy="1420819"/>
          </a:xfrm>
          <a:prstGeom prst="rect">
            <a:avLst/>
          </a:prstGeom>
          <a:noFill/>
          <a:ln/>
        </p:spPr>
        <p:txBody>
          <a:bodyPr wrap="square" lIns="0" tIns="0" rIns="0" bIns="0" rtlCol="0" anchor="t"/>
          <a:lstStyle/>
          <a:p>
            <a:pPr algn="l" indent="0" marL="0">
              <a:lnSpc>
                <a:spcPts val="1350"/>
              </a:lnSpc>
              <a:buNone/>
            </a:pPr>
            <a:r>
              <a:rPr lang="en-US" sz="1050" dirty="0">
                <a:solidFill>
                  <a:srgbClr val="333F70"/>
                </a:solidFill>
                <a:latin typeface="Open Sans" pitchFamily="34" charset="0"/>
                <a:ea typeface="Open Sans" pitchFamily="34" charset="-122"/>
                <a:cs typeface="Open Sans" pitchFamily="34" charset="-120"/>
              </a:rPr>
              <a:t>Strategic refactoring to a robust MySQL database for integrity and high-concurrency access.</a:t>
            </a:r>
            <a:endParaRPr lang="en-US" sz="105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4050" y="6443354"/>
            <a:ext cx="319882" cy="319881"/>
          </a:xfrm>
          <a:prstGeom prst="rect">
            <a:avLst/>
          </a:prstGeom>
        </p:spPr>
      </p:pic>
      <p:sp>
        <p:nvSpPr>
          <p:cNvPr id="8" name="Text 4"/>
          <p:cNvSpPr/>
          <p:nvPr/>
        </p:nvSpPr>
        <p:spPr>
          <a:xfrm>
            <a:off x="11306123" y="4291800"/>
            <a:ext cx="2222793" cy="1136655"/>
          </a:xfrm>
          <a:prstGeom prst="rect">
            <a:avLst/>
          </a:prstGeom>
          <a:noFill/>
          <a:ln/>
        </p:spPr>
        <p:txBody>
          <a:bodyPr wrap="square" lIns="0" tIns="0" rIns="0" bIns="0" rtlCol="0" anchor="t"/>
          <a:lstStyle/>
          <a:p>
            <a:pPr algn="l" indent="0" marL="0">
              <a:lnSpc>
                <a:spcPts val="1350"/>
              </a:lnSpc>
              <a:buNone/>
            </a:pPr>
            <a:r>
              <a:rPr lang="en-US" sz="1050" dirty="0">
                <a:solidFill>
                  <a:srgbClr val="333F70"/>
                </a:solidFill>
                <a:latin typeface="Open Sans" pitchFamily="34" charset="0"/>
                <a:ea typeface="Open Sans" pitchFamily="34" charset="-122"/>
                <a:cs typeface="Open Sans" pitchFamily="34" charset="-120"/>
              </a:rPr>
              <a:t>Initial use of local Pickle files limited concurrency and data integrity.</a:t>
            </a:r>
            <a:endParaRPr lang="en-US" sz="10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93789" y="4763433"/>
            <a:ext cx="319882" cy="319882"/>
          </a:xfrm>
          <a:prstGeom prst="rect">
            <a:avLst/>
          </a:prstGeom>
        </p:spPr>
      </p:pic>
      <p:sp>
        <p:nvSpPr>
          <p:cNvPr id="10" name="Text 5"/>
          <p:cNvSpPr/>
          <p:nvPr/>
        </p:nvSpPr>
        <p:spPr>
          <a:xfrm>
            <a:off x="10548352" y="2368958"/>
            <a:ext cx="2525901" cy="1420819"/>
          </a:xfrm>
          <a:prstGeom prst="rect">
            <a:avLst/>
          </a:prstGeom>
          <a:noFill/>
          <a:ln/>
        </p:spPr>
        <p:txBody>
          <a:bodyPr wrap="square" lIns="0" tIns="0" rIns="0" bIns="0" rtlCol="0" anchor="t"/>
          <a:lstStyle/>
          <a:p>
            <a:pPr algn="l" indent="0" marL="0">
              <a:lnSpc>
                <a:spcPts val="1350"/>
              </a:lnSpc>
              <a:buNone/>
            </a:pPr>
            <a:r>
              <a:rPr lang="en-US" sz="1050" dirty="0">
                <a:solidFill>
                  <a:srgbClr val="333F70"/>
                </a:solidFill>
                <a:latin typeface="Open Sans" pitchFamily="34" charset="0"/>
                <a:ea typeface="Open Sans" pitchFamily="34" charset="-122"/>
                <a:cs typeface="Open Sans" pitchFamily="34" charset="-120"/>
              </a:rPr>
              <a:t>Re-architected pipeline using Python's multiprocessing library to distribute workload across CPU cores.</a:t>
            </a:r>
            <a:endParaRPr lang="en-US" sz="10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10761" y="2953862"/>
            <a:ext cx="319881" cy="319882"/>
          </a:xfrm>
          <a:prstGeom prst="rect">
            <a:avLst/>
          </a:prstGeom>
        </p:spPr>
      </p:pic>
      <p:sp>
        <p:nvSpPr>
          <p:cNvPr id="12" name="Text 6"/>
          <p:cNvSpPr/>
          <p:nvPr/>
        </p:nvSpPr>
        <p:spPr>
          <a:xfrm>
            <a:off x="1695072" y="5936793"/>
            <a:ext cx="2488012" cy="1420819"/>
          </a:xfrm>
          <a:prstGeom prst="rect">
            <a:avLst/>
          </a:prstGeom>
          <a:noFill/>
          <a:ln/>
        </p:spPr>
        <p:txBody>
          <a:bodyPr wrap="square" lIns="0" tIns="0" rIns="0" bIns="0" rtlCol="0" anchor="t"/>
          <a:lstStyle/>
          <a:p>
            <a:pPr algn="r" indent="0" marL="0">
              <a:lnSpc>
                <a:spcPts val="1350"/>
              </a:lnSpc>
              <a:buNone/>
            </a:pPr>
            <a:r>
              <a:rPr lang="en-US" sz="1050" dirty="0">
                <a:solidFill>
                  <a:srgbClr val="333F70"/>
                </a:solidFill>
                <a:latin typeface="Open Sans" pitchFamily="34" charset="0"/>
                <a:ea typeface="Open Sans" pitchFamily="34" charset="-122"/>
                <a:cs typeface="Open Sans" pitchFamily="34" charset="-120"/>
              </a:rPr>
              <a:t>Sequential processing of thousands of images created an unacceptable bottleneck.</a:t>
            </a:r>
            <a:endParaRPr lang="en-US" sz="10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29408" y="6472560"/>
            <a:ext cx="317119" cy="317119"/>
          </a:xfrm>
          <a:prstGeom prst="rect">
            <a:avLst/>
          </a:prstGeom>
        </p:spPr>
      </p:pic>
      <p:sp>
        <p:nvSpPr>
          <p:cNvPr id="14" name="Text 7"/>
          <p:cNvSpPr/>
          <p:nvPr/>
        </p:nvSpPr>
        <p:spPr>
          <a:xfrm>
            <a:off x="1215151" y="4137089"/>
            <a:ext cx="2197533" cy="1420818"/>
          </a:xfrm>
          <a:prstGeom prst="rect">
            <a:avLst/>
          </a:prstGeom>
          <a:noFill/>
          <a:ln/>
        </p:spPr>
        <p:txBody>
          <a:bodyPr wrap="square" lIns="0" tIns="0" rIns="0" bIns="0" rtlCol="0" anchor="t"/>
          <a:lstStyle/>
          <a:p>
            <a:pPr algn="r" indent="0" marL="0">
              <a:lnSpc>
                <a:spcPts val="1350"/>
              </a:lnSpc>
              <a:buNone/>
            </a:pPr>
            <a:r>
              <a:rPr lang="en-US" sz="1050" dirty="0">
                <a:solidFill>
                  <a:srgbClr val="333F70"/>
                </a:solidFill>
                <a:latin typeface="Open Sans" pitchFamily="34" charset="0"/>
                <a:ea typeface="Open Sans" pitchFamily="34" charset="-122"/>
                <a:cs typeface="Open Sans" pitchFamily="34" charset="-120"/>
              </a:rPr>
              <a:t>Automatic resizing of images over 3000 pixels, drastically reducing memory footprint.</a:t>
            </a:r>
            <a:endParaRPr lang="en-US" sz="1050" dirty="0"/>
          </a:p>
        </p:txBody>
      </p:sp>
      <p:pic>
        <p:nvPicPr>
          <p:cNvPr id="15"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33898" y="4716269"/>
            <a:ext cx="341786" cy="341787"/>
          </a:xfrm>
          <a:prstGeom prst="rect">
            <a:avLst/>
          </a:prstGeom>
        </p:spPr>
      </p:pic>
      <p:sp>
        <p:nvSpPr>
          <p:cNvPr id="16" name="Text 8"/>
          <p:cNvSpPr/>
          <p:nvPr/>
        </p:nvSpPr>
        <p:spPr>
          <a:xfrm>
            <a:off x="1695072" y="2517355"/>
            <a:ext cx="2488012" cy="1136655"/>
          </a:xfrm>
          <a:prstGeom prst="rect">
            <a:avLst/>
          </a:prstGeom>
          <a:noFill/>
          <a:ln/>
        </p:spPr>
        <p:txBody>
          <a:bodyPr wrap="square" lIns="0" tIns="0" rIns="0" bIns="0" rtlCol="0" anchor="t"/>
          <a:lstStyle/>
          <a:p>
            <a:pPr algn="r" indent="0" marL="0">
              <a:lnSpc>
                <a:spcPts val="1350"/>
              </a:lnSpc>
              <a:buNone/>
            </a:pPr>
            <a:r>
              <a:rPr lang="en-US" sz="1050" dirty="0">
                <a:solidFill>
                  <a:srgbClr val="333F70"/>
                </a:solidFill>
                <a:latin typeface="Open Sans" pitchFamily="34" charset="0"/>
                <a:ea typeface="Open Sans" pitchFamily="34" charset="-122"/>
                <a:cs typeface="Open Sans" pitchFamily="34" charset="-120"/>
              </a:rPr>
              <a:t>Processing high-resolution images caused excessive memory and CPU load.</a:t>
            </a:r>
            <a:endParaRPr lang="en-US" sz="1050" dirty="0"/>
          </a:p>
        </p:txBody>
      </p:sp>
      <p:pic>
        <p:nvPicPr>
          <p:cNvPr id="17"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70405" y="2955638"/>
            <a:ext cx="341786" cy="3417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97123"/>
            <a:ext cx="7556421" cy="1133951"/>
          </a:xfrm>
          <a:prstGeom prst="rect">
            <a:avLst/>
          </a:prstGeom>
          <a:noFill/>
          <a:ln/>
        </p:spPr>
        <p:txBody>
          <a:bodyPr wrap="square" lIns="0" tIns="0" rIns="0" bIns="0" rtlCol="0" anchor="t"/>
          <a:lstStyle/>
          <a:p>
            <a:pPr algn="l" indent="0" marL="0">
              <a:lnSpc>
                <a:spcPts val="4450"/>
              </a:lnSpc>
              <a:buNone/>
            </a:pPr>
            <a:r>
              <a:rPr lang="en-US" sz="3550" b="1" dirty="0">
                <a:solidFill>
                  <a:srgbClr val="333F70"/>
                </a:solidFill>
                <a:latin typeface="Unbounded Bold" pitchFamily="34" charset="0"/>
                <a:ea typeface="Unbounded Bold" pitchFamily="34" charset="-122"/>
                <a:cs typeface="Unbounded Bold" pitchFamily="34" charset="-120"/>
              </a:rPr>
              <a:t>Future Work and Scalability Roadmap</a:t>
            </a:r>
            <a:endParaRPr lang="en-US" sz="3550" dirty="0"/>
          </a:p>
        </p:txBody>
      </p:sp>
      <p:sp>
        <p:nvSpPr>
          <p:cNvPr id="4" name="Shape 1"/>
          <p:cNvSpPr/>
          <p:nvPr/>
        </p:nvSpPr>
        <p:spPr>
          <a:xfrm>
            <a:off x="997863" y="2203252"/>
            <a:ext cx="22860" cy="5229225"/>
          </a:xfrm>
          <a:prstGeom prst="roundRect">
            <a:avLst>
              <a:gd name="adj" fmla="val 333395"/>
            </a:avLst>
          </a:prstGeom>
          <a:solidFill>
            <a:srgbClr val="BCDBD4"/>
          </a:solidFill>
          <a:ln/>
        </p:spPr>
      </p:sp>
      <p:sp>
        <p:nvSpPr>
          <p:cNvPr id="5" name="Shape 2"/>
          <p:cNvSpPr/>
          <p:nvPr/>
        </p:nvSpPr>
        <p:spPr>
          <a:xfrm>
            <a:off x="1179135" y="2395895"/>
            <a:ext cx="544354" cy="22860"/>
          </a:xfrm>
          <a:prstGeom prst="roundRect">
            <a:avLst>
              <a:gd name="adj" fmla="val 333395"/>
            </a:avLst>
          </a:prstGeom>
          <a:solidFill>
            <a:srgbClr val="BCDBD4"/>
          </a:solidFill>
          <a:ln/>
        </p:spPr>
      </p:sp>
      <p:sp>
        <p:nvSpPr>
          <p:cNvPr id="6" name="Shape 3"/>
          <p:cNvSpPr/>
          <p:nvPr/>
        </p:nvSpPr>
        <p:spPr>
          <a:xfrm>
            <a:off x="793730" y="2203252"/>
            <a:ext cx="408265" cy="408265"/>
          </a:xfrm>
          <a:prstGeom prst="roundRect">
            <a:avLst>
              <a:gd name="adj" fmla="val 18668"/>
            </a:avLst>
          </a:prstGeom>
          <a:solidFill>
            <a:srgbClr val="D6F5EE"/>
          </a:solidFill>
          <a:ln w="7620">
            <a:solidFill>
              <a:srgbClr val="BCDBD4"/>
            </a:solidFill>
            <a:prstDash val="solid"/>
          </a:ln>
        </p:spPr>
      </p:sp>
      <p:sp>
        <p:nvSpPr>
          <p:cNvPr id="7" name="Text 4"/>
          <p:cNvSpPr/>
          <p:nvPr/>
        </p:nvSpPr>
        <p:spPr>
          <a:xfrm>
            <a:off x="861715" y="2237244"/>
            <a:ext cx="272177" cy="340162"/>
          </a:xfrm>
          <a:prstGeom prst="rect">
            <a:avLst/>
          </a:prstGeom>
          <a:noFill/>
          <a:ln/>
        </p:spPr>
        <p:txBody>
          <a:bodyPr wrap="none" lIns="0" tIns="0" rIns="0" bIns="0" rtlCol="0" anchor="t"/>
          <a:lstStyle/>
          <a:p>
            <a:pPr algn="ctr" indent="0" marL="0">
              <a:lnSpc>
                <a:spcPts val="2100"/>
              </a:lnSpc>
              <a:buNone/>
            </a:pPr>
            <a:r>
              <a:rPr lang="en-US" sz="2100" b="1" dirty="0">
                <a:solidFill>
                  <a:srgbClr val="333F70"/>
                </a:solidFill>
                <a:latin typeface="Unbounded Bold" pitchFamily="34" charset="0"/>
                <a:ea typeface="Unbounded Bold" pitchFamily="34" charset="-122"/>
                <a:cs typeface="Unbounded Bold" pitchFamily="34" charset="-120"/>
              </a:rPr>
              <a:t>1</a:t>
            </a:r>
            <a:endParaRPr lang="en-US" sz="2100" dirty="0"/>
          </a:p>
        </p:txBody>
      </p:sp>
      <p:sp>
        <p:nvSpPr>
          <p:cNvPr id="8" name="Text 5"/>
          <p:cNvSpPr/>
          <p:nvPr/>
        </p:nvSpPr>
        <p:spPr>
          <a:xfrm>
            <a:off x="1905238" y="2265521"/>
            <a:ext cx="3740706" cy="283488"/>
          </a:xfrm>
          <a:prstGeom prst="rect">
            <a:avLst/>
          </a:prstGeom>
          <a:noFill/>
          <a:ln/>
        </p:spPr>
        <p:txBody>
          <a:bodyPr wrap="none" lIns="0" tIns="0" rIns="0" bIns="0" rtlCol="0" anchor="t"/>
          <a:lstStyle/>
          <a:p>
            <a:pPr algn="l" indent="0" marL="0">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Functional Enhancements</a:t>
            </a:r>
            <a:endParaRPr lang="en-US" sz="1750" dirty="0"/>
          </a:p>
        </p:txBody>
      </p:sp>
      <p:sp>
        <p:nvSpPr>
          <p:cNvPr id="9" name="Text 6"/>
          <p:cNvSpPr/>
          <p:nvPr/>
        </p:nvSpPr>
        <p:spPr>
          <a:xfrm>
            <a:off x="1905238" y="2657832"/>
            <a:ext cx="6444972" cy="580549"/>
          </a:xfrm>
          <a:prstGeom prst="rect">
            <a:avLst/>
          </a:prstGeom>
          <a:noFill/>
          <a:ln/>
        </p:spPr>
        <p:txBody>
          <a:bodyPr wrap="squar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Develop an Administrator Dashboard for system management and implement Live/Real-Time Recognition for events.</a:t>
            </a:r>
            <a:endParaRPr lang="en-US" sz="1400" dirty="0"/>
          </a:p>
        </p:txBody>
      </p:sp>
      <p:sp>
        <p:nvSpPr>
          <p:cNvPr id="10" name="Shape 7"/>
          <p:cNvSpPr/>
          <p:nvPr/>
        </p:nvSpPr>
        <p:spPr>
          <a:xfrm>
            <a:off x="1179135" y="3793927"/>
            <a:ext cx="544354" cy="22860"/>
          </a:xfrm>
          <a:prstGeom prst="roundRect">
            <a:avLst>
              <a:gd name="adj" fmla="val 333395"/>
            </a:avLst>
          </a:prstGeom>
          <a:solidFill>
            <a:srgbClr val="BCDBD4"/>
          </a:solidFill>
          <a:ln/>
        </p:spPr>
      </p:sp>
      <p:sp>
        <p:nvSpPr>
          <p:cNvPr id="11" name="Shape 8"/>
          <p:cNvSpPr/>
          <p:nvPr/>
        </p:nvSpPr>
        <p:spPr>
          <a:xfrm>
            <a:off x="793730" y="3601283"/>
            <a:ext cx="408265" cy="408265"/>
          </a:xfrm>
          <a:prstGeom prst="roundRect">
            <a:avLst>
              <a:gd name="adj" fmla="val 18668"/>
            </a:avLst>
          </a:prstGeom>
          <a:solidFill>
            <a:srgbClr val="D6F5EE"/>
          </a:solidFill>
          <a:ln w="7620">
            <a:solidFill>
              <a:srgbClr val="BCDBD4"/>
            </a:solidFill>
            <a:prstDash val="solid"/>
          </a:ln>
        </p:spPr>
      </p:sp>
      <p:sp>
        <p:nvSpPr>
          <p:cNvPr id="12" name="Text 9"/>
          <p:cNvSpPr/>
          <p:nvPr/>
        </p:nvSpPr>
        <p:spPr>
          <a:xfrm>
            <a:off x="861715" y="3635276"/>
            <a:ext cx="272177" cy="340162"/>
          </a:xfrm>
          <a:prstGeom prst="rect">
            <a:avLst/>
          </a:prstGeom>
          <a:noFill/>
          <a:ln/>
        </p:spPr>
        <p:txBody>
          <a:bodyPr wrap="none" lIns="0" tIns="0" rIns="0" bIns="0" rtlCol="0" anchor="t"/>
          <a:lstStyle/>
          <a:p>
            <a:pPr algn="ctr" indent="0" marL="0">
              <a:lnSpc>
                <a:spcPts val="2100"/>
              </a:lnSpc>
              <a:buNone/>
            </a:pPr>
            <a:r>
              <a:rPr lang="en-US" sz="2100" b="1" dirty="0">
                <a:solidFill>
                  <a:srgbClr val="333F70"/>
                </a:solidFill>
                <a:latin typeface="Unbounded Bold" pitchFamily="34" charset="0"/>
                <a:ea typeface="Unbounded Bold" pitchFamily="34" charset="-122"/>
                <a:cs typeface="Unbounded Bold" pitchFamily="34" charset="-120"/>
              </a:rPr>
              <a:t>2</a:t>
            </a:r>
            <a:endParaRPr lang="en-US" sz="2100" dirty="0"/>
          </a:p>
        </p:txBody>
      </p:sp>
      <p:sp>
        <p:nvSpPr>
          <p:cNvPr id="13" name="Text 10"/>
          <p:cNvSpPr/>
          <p:nvPr/>
        </p:nvSpPr>
        <p:spPr>
          <a:xfrm>
            <a:off x="1905238" y="3663553"/>
            <a:ext cx="2749629" cy="283488"/>
          </a:xfrm>
          <a:prstGeom prst="rect">
            <a:avLst/>
          </a:prstGeom>
          <a:noFill/>
          <a:ln/>
        </p:spPr>
        <p:txBody>
          <a:bodyPr wrap="none" lIns="0" tIns="0" rIns="0" bIns="0" rtlCol="0" anchor="t"/>
          <a:lstStyle/>
          <a:p>
            <a:pPr algn="l" indent="0" marL="0">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Security Hardening</a:t>
            </a:r>
            <a:endParaRPr lang="en-US" sz="1750" dirty="0"/>
          </a:p>
        </p:txBody>
      </p:sp>
      <p:sp>
        <p:nvSpPr>
          <p:cNvPr id="14" name="Text 11"/>
          <p:cNvSpPr/>
          <p:nvPr/>
        </p:nvSpPr>
        <p:spPr>
          <a:xfrm>
            <a:off x="1905238" y="4055864"/>
            <a:ext cx="6444972" cy="580549"/>
          </a:xfrm>
          <a:prstGeom prst="rect">
            <a:avLst/>
          </a:prstGeom>
          <a:noFill/>
          <a:ln/>
        </p:spPr>
        <p:txBody>
          <a:bodyPr wrap="squar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Implement password hashing (e.g., using </a:t>
            </a:r>
            <a:pPr algn="l" indent="0" marL="0">
              <a:lnSpc>
                <a:spcPts val="2250"/>
              </a:lnSpc>
              <a:buNone/>
            </a:pPr>
            <a:r>
              <a:rPr lang="en-US" sz="1400" dirty="0">
                <a:solidFill>
                  <a:srgbClr val="333F70"/>
                </a:solidFill>
                <a:highlight>
                  <a:srgbClr val="F2F2F2"/>
                </a:highlight>
                <a:latin typeface="Consolas" pitchFamily="34" charset="0"/>
                <a:ea typeface="Consolas" pitchFamily="34" charset="-122"/>
                <a:cs typeface="Consolas" pitchFamily="34" charset="-120"/>
              </a:rPr>
              <a:t>passlib</a:t>
            </a:r>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 to protect user credentials.</a:t>
            </a:r>
            <a:endParaRPr lang="en-US" sz="1400" dirty="0"/>
          </a:p>
        </p:txBody>
      </p:sp>
      <p:sp>
        <p:nvSpPr>
          <p:cNvPr id="15" name="Shape 12"/>
          <p:cNvSpPr/>
          <p:nvPr/>
        </p:nvSpPr>
        <p:spPr>
          <a:xfrm>
            <a:off x="1179135" y="5191958"/>
            <a:ext cx="544354" cy="22860"/>
          </a:xfrm>
          <a:prstGeom prst="roundRect">
            <a:avLst>
              <a:gd name="adj" fmla="val 333395"/>
            </a:avLst>
          </a:prstGeom>
          <a:solidFill>
            <a:srgbClr val="BCDBD4"/>
          </a:solidFill>
          <a:ln/>
        </p:spPr>
      </p:sp>
      <p:sp>
        <p:nvSpPr>
          <p:cNvPr id="16" name="Shape 13"/>
          <p:cNvSpPr/>
          <p:nvPr/>
        </p:nvSpPr>
        <p:spPr>
          <a:xfrm>
            <a:off x="793730" y="4999315"/>
            <a:ext cx="408265" cy="408265"/>
          </a:xfrm>
          <a:prstGeom prst="roundRect">
            <a:avLst>
              <a:gd name="adj" fmla="val 18668"/>
            </a:avLst>
          </a:prstGeom>
          <a:solidFill>
            <a:srgbClr val="D6F5EE"/>
          </a:solidFill>
          <a:ln w="7620">
            <a:solidFill>
              <a:srgbClr val="BCDBD4"/>
            </a:solidFill>
            <a:prstDash val="solid"/>
          </a:ln>
        </p:spPr>
      </p:sp>
      <p:sp>
        <p:nvSpPr>
          <p:cNvPr id="17" name="Text 14"/>
          <p:cNvSpPr/>
          <p:nvPr/>
        </p:nvSpPr>
        <p:spPr>
          <a:xfrm>
            <a:off x="861715" y="5033308"/>
            <a:ext cx="272177" cy="340162"/>
          </a:xfrm>
          <a:prstGeom prst="rect">
            <a:avLst/>
          </a:prstGeom>
          <a:noFill/>
          <a:ln/>
        </p:spPr>
        <p:txBody>
          <a:bodyPr wrap="none" lIns="0" tIns="0" rIns="0" bIns="0" rtlCol="0" anchor="t"/>
          <a:lstStyle/>
          <a:p>
            <a:pPr algn="ctr" indent="0" marL="0">
              <a:lnSpc>
                <a:spcPts val="2100"/>
              </a:lnSpc>
              <a:buNone/>
            </a:pPr>
            <a:r>
              <a:rPr lang="en-US" sz="2100" b="1" dirty="0">
                <a:solidFill>
                  <a:srgbClr val="333F70"/>
                </a:solidFill>
                <a:latin typeface="Unbounded Bold" pitchFamily="34" charset="0"/>
                <a:ea typeface="Unbounded Bold" pitchFamily="34" charset="-122"/>
                <a:cs typeface="Unbounded Bold" pitchFamily="34" charset="-120"/>
              </a:rPr>
              <a:t>3</a:t>
            </a:r>
            <a:endParaRPr lang="en-US" sz="2100" dirty="0"/>
          </a:p>
        </p:txBody>
      </p:sp>
      <p:sp>
        <p:nvSpPr>
          <p:cNvPr id="18" name="Text 15"/>
          <p:cNvSpPr/>
          <p:nvPr/>
        </p:nvSpPr>
        <p:spPr>
          <a:xfrm>
            <a:off x="1905238" y="5061585"/>
            <a:ext cx="3903702" cy="283488"/>
          </a:xfrm>
          <a:prstGeom prst="rect">
            <a:avLst/>
          </a:prstGeom>
          <a:noFill/>
          <a:ln/>
        </p:spPr>
        <p:txBody>
          <a:bodyPr wrap="none" lIns="0" tIns="0" rIns="0" bIns="0" rtlCol="0" anchor="t"/>
          <a:lstStyle/>
          <a:p>
            <a:pPr algn="l" indent="0" marL="0">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Vector Database Migration</a:t>
            </a:r>
            <a:endParaRPr lang="en-US" sz="1750" dirty="0"/>
          </a:p>
        </p:txBody>
      </p:sp>
      <p:sp>
        <p:nvSpPr>
          <p:cNvPr id="19" name="Text 16"/>
          <p:cNvSpPr/>
          <p:nvPr/>
        </p:nvSpPr>
        <p:spPr>
          <a:xfrm>
            <a:off x="1905238" y="5453896"/>
            <a:ext cx="6444972" cy="580549"/>
          </a:xfrm>
          <a:prstGeom prst="rect">
            <a:avLst/>
          </a:prstGeom>
          <a:noFill/>
          <a:ln/>
        </p:spPr>
        <p:txBody>
          <a:bodyPr wrap="squar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Migrate facial embeddings to a specialized vector database (Milvus/Pinecone) for ultra-fast similarity searches at scale.</a:t>
            </a:r>
            <a:endParaRPr lang="en-US" sz="1400" dirty="0"/>
          </a:p>
        </p:txBody>
      </p:sp>
      <p:sp>
        <p:nvSpPr>
          <p:cNvPr id="20" name="Shape 17"/>
          <p:cNvSpPr/>
          <p:nvPr/>
        </p:nvSpPr>
        <p:spPr>
          <a:xfrm>
            <a:off x="1179135" y="6589990"/>
            <a:ext cx="544354" cy="22860"/>
          </a:xfrm>
          <a:prstGeom prst="roundRect">
            <a:avLst>
              <a:gd name="adj" fmla="val 333395"/>
            </a:avLst>
          </a:prstGeom>
          <a:solidFill>
            <a:srgbClr val="BCDBD4"/>
          </a:solidFill>
          <a:ln/>
        </p:spPr>
      </p:sp>
      <p:sp>
        <p:nvSpPr>
          <p:cNvPr id="21" name="Shape 18"/>
          <p:cNvSpPr/>
          <p:nvPr/>
        </p:nvSpPr>
        <p:spPr>
          <a:xfrm>
            <a:off x="793730" y="6397347"/>
            <a:ext cx="408265" cy="408265"/>
          </a:xfrm>
          <a:prstGeom prst="roundRect">
            <a:avLst>
              <a:gd name="adj" fmla="val 18668"/>
            </a:avLst>
          </a:prstGeom>
          <a:solidFill>
            <a:srgbClr val="D6F5EE"/>
          </a:solidFill>
          <a:ln w="7620">
            <a:solidFill>
              <a:srgbClr val="BCDBD4"/>
            </a:solidFill>
            <a:prstDash val="solid"/>
          </a:ln>
        </p:spPr>
      </p:sp>
      <p:sp>
        <p:nvSpPr>
          <p:cNvPr id="22" name="Text 19"/>
          <p:cNvSpPr/>
          <p:nvPr/>
        </p:nvSpPr>
        <p:spPr>
          <a:xfrm>
            <a:off x="861715" y="6431340"/>
            <a:ext cx="272177" cy="340162"/>
          </a:xfrm>
          <a:prstGeom prst="rect">
            <a:avLst/>
          </a:prstGeom>
          <a:noFill/>
          <a:ln/>
        </p:spPr>
        <p:txBody>
          <a:bodyPr wrap="none" lIns="0" tIns="0" rIns="0" bIns="0" rtlCol="0" anchor="t"/>
          <a:lstStyle/>
          <a:p>
            <a:pPr algn="ctr" indent="0" marL="0">
              <a:lnSpc>
                <a:spcPts val="2100"/>
              </a:lnSpc>
              <a:buNone/>
            </a:pPr>
            <a:r>
              <a:rPr lang="en-US" sz="2100" b="1" dirty="0">
                <a:solidFill>
                  <a:srgbClr val="333F70"/>
                </a:solidFill>
                <a:latin typeface="Unbounded Bold" pitchFamily="34" charset="0"/>
                <a:ea typeface="Unbounded Bold" pitchFamily="34" charset="-122"/>
                <a:cs typeface="Unbounded Bold" pitchFamily="34" charset="-120"/>
              </a:rPr>
              <a:t>4</a:t>
            </a:r>
            <a:endParaRPr lang="en-US" sz="2100" dirty="0"/>
          </a:p>
        </p:txBody>
      </p:sp>
      <p:sp>
        <p:nvSpPr>
          <p:cNvPr id="23" name="Text 20"/>
          <p:cNvSpPr/>
          <p:nvPr/>
        </p:nvSpPr>
        <p:spPr>
          <a:xfrm>
            <a:off x="1905238" y="6459617"/>
            <a:ext cx="2614255" cy="283488"/>
          </a:xfrm>
          <a:prstGeom prst="rect">
            <a:avLst/>
          </a:prstGeom>
          <a:noFill/>
          <a:ln/>
        </p:spPr>
        <p:txBody>
          <a:bodyPr wrap="none" lIns="0" tIns="0" rIns="0" bIns="0" rtlCol="0" anchor="t"/>
          <a:lstStyle/>
          <a:p>
            <a:pPr algn="l" indent="0" marL="0">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Cloud Deployment</a:t>
            </a:r>
            <a:endParaRPr lang="en-US" sz="1750" dirty="0"/>
          </a:p>
        </p:txBody>
      </p:sp>
      <p:sp>
        <p:nvSpPr>
          <p:cNvPr id="24" name="Text 21"/>
          <p:cNvSpPr/>
          <p:nvPr/>
        </p:nvSpPr>
        <p:spPr>
          <a:xfrm>
            <a:off x="1905238" y="6851928"/>
            <a:ext cx="6444972" cy="580549"/>
          </a:xfrm>
          <a:prstGeom prst="rect">
            <a:avLst/>
          </a:prstGeom>
          <a:noFill/>
          <a:ln/>
        </p:spPr>
        <p:txBody>
          <a:bodyPr wrap="squar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Containerize the application using Docker/Kubernetes and deploy on AWS or Azure for maximum reliability and availability.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045976"/>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Thank You</a:t>
            </a:r>
            <a:endParaRPr lang="en-US" sz="4450" dirty="0"/>
          </a:p>
        </p:txBody>
      </p:sp>
      <p:sp>
        <p:nvSpPr>
          <p:cNvPr id="4" name="Text 1"/>
          <p:cNvSpPr/>
          <p:nvPr/>
        </p:nvSpPr>
        <p:spPr>
          <a:xfrm>
            <a:off x="793790" y="4094917"/>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We appreciate your time and interest in the PowerGrid Face Recognition Portal. We look forward to a future of effortless connections and efficient photo management.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2025-11-05T18:28:56Z</dcterms:created>
  <dcterms:modified xsi:type="dcterms:W3CDTF">2025-11-05T18:28:56Z</dcterms:modified>
</cp:coreProperties>
</file>